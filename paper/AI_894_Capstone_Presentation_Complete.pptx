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70" r:id="rId5"/>
    <p:sldId id="259" r:id="rId6"/>
    <p:sldId id="263" r:id="rId7"/>
    <p:sldId id="260" r:id="rId8"/>
    <p:sldId id="269" r:id="rId9"/>
    <p:sldId id="261" r:id="rId10"/>
    <p:sldId id="272" r:id="rId11"/>
    <p:sldId id="262" r:id="rId12"/>
    <p:sldId id="264" r:id="rId13"/>
    <p:sldId id="265" r:id="rId14"/>
    <p:sldId id="267" r:id="rId15"/>
    <p:sldId id="273" r:id="rId16"/>
    <p:sldId id="268" r:id="rId17"/>
    <p:sldId id="266" r:id="rId18"/>
    <p:sldId id="274" r:id="rId19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9FC3"/>
    <a:srgbClr val="234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48"/>
    <p:restoredTop sz="94666"/>
  </p:normalViewPr>
  <p:slideViewPr>
    <p:cSldViewPr snapToGrid="0" snapToObjects="1">
      <p:cViewPr varScale="1">
        <p:scale>
          <a:sx n="70" d="100"/>
          <a:sy n="70" d="100"/>
        </p:scale>
        <p:origin x="1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tags" Target="tags/tag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E61490-0E8B-644D-8D6F-07FD60935E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8BC33-5051-4F47-9BDC-B6BF899F99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0B59F-B68B-F44C-8E5A-5E36736389EC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2F1AE-0268-9D47-9C57-E38840087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B0A12-556D-4040-BD94-D45B66FF4E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D9D23-156F-764B-89C5-48BBF252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3197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F39DE-44BD-9F4B-B4BB-A575182E7BAB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0C0C2-B960-6944-9880-3960BE984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5650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20FC6C-C2D0-784B-96BF-963AD9FF95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B35FC4C-0992-9C4F-887E-D7F68C1AA6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690571"/>
            <a:ext cx="9144000" cy="66885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E46AAA0-E2EF-E44A-A6D5-B65457731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1113184"/>
            <a:ext cx="9144000" cy="1507606"/>
          </a:xfrm>
          <a:prstGeom prst="rect">
            <a:avLst/>
          </a:prstGeom>
        </p:spPr>
        <p:txBody>
          <a:bodyPr anchor="b"/>
          <a:lstStyle>
            <a:lvl1pPr>
              <a:defRPr b="0" i="0">
                <a:solidFill>
                  <a:srgbClr val="234078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28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188F5E-23B4-8345-B2A5-105EF759DF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-1"/>
            <a:ext cx="1219200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ACD065-015B-2A4A-91EC-6E198CAAB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26353"/>
          </a:xfrm>
          <a:prstGeom prst="rect">
            <a:avLst/>
          </a:prstGeom>
        </p:spPr>
        <p:txBody>
          <a:bodyPr anchor="ctr"/>
          <a:lstStyle>
            <a:lvl1pPr>
              <a:defRPr b="0" i="0">
                <a:solidFill>
                  <a:srgbClr val="7E9FC3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639DD-54B2-D940-A95F-4337D9FDC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391478"/>
            <a:ext cx="10515599" cy="478548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9DC2A-0A86-AC42-B596-6044546DBD64}"/>
              </a:ext>
            </a:extLst>
          </p:cNvPr>
          <p:cNvSpPr txBox="1"/>
          <p:nvPr userDrawn="1"/>
        </p:nvSpPr>
        <p:spPr>
          <a:xfrm>
            <a:off x="11625944" y="6383515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CE81201-A5F3-B248-8E6A-3DAD79E0A584}" type="slidenum">
              <a:rPr lang="en-US" smtClean="0">
                <a:solidFill>
                  <a:schemeClr val="bg1"/>
                </a:solidFill>
              </a:r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7419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17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5D5106-4953-9A4C-BA98-584B4158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33" y="530424"/>
            <a:ext cx="9852838" cy="1632203"/>
          </a:xfrm>
        </p:spPr>
        <p:txBody>
          <a:bodyPr/>
          <a:lstStyle/>
          <a:p>
            <a:r>
              <a:rPr lang="en-US" sz="4000" dirty="0"/>
              <a:t>Title</a:t>
            </a:r>
            <a:br>
              <a:rPr lang="en-US" sz="4000" dirty="0"/>
            </a:br>
            <a:r>
              <a:rPr lang="en-US" sz="4000" dirty="0"/>
              <a:t>sub-Title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4" name="Subtitle 1">
            <a:extLst>
              <a:ext uri="{FF2B5EF4-FFF2-40B4-BE49-F238E27FC236}">
                <a16:creationId xmlns:a16="http://schemas.microsoft.com/office/drawing/2014/main" id="{01F86F69-15C6-4E40-A353-D52D462222B5}"/>
              </a:ext>
            </a:extLst>
          </p:cNvPr>
          <p:cNvSpPr txBox="1">
            <a:spLocks/>
          </p:cNvSpPr>
          <p:nvPr/>
        </p:nvSpPr>
        <p:spPr>
          <a:xfrm>
            <a:off x="636133" y="4849830"/>
            <a:ext cx="5852933" cy="7024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Design and Implementation of AI System </a:t>
            </a:r>
            <a:r>
              <a:rPr lang="en-US" sz="1600" dirty="0"/>
              <a:t>(Fall/SP/SU, 202x) </a:t>
            </a:r>
          </a:p>
          <a:p>
            <a:r>
              <a:rPr lang="en-US" sz="1600" dirty="0"/>
              <a:t>Dr.  </a:t>
            </a:r>
            <a:r>
              <a:rPr lang="en-US" sz="1600" dirty="0" err="1"/>
              <a:t>Youakim</a:t>
            </a:r>
            <a:r>
              <a:rPr lang="en-US" sz="1600" dirty="0"/>
              <a:t> </a:t>
            </a:r>
            <a:r>
              <a:rPr lang="en-US" sz="1600" dirty="0" err="1"/>
              <a:t>Badr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53DF0E-9169-D349-866A-F3C60B412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924" y="2222743"/>
            <a:ext cx="1412504" cy="14647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34FFAD-C341-0049-9633-415779AE7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921" y="2162627"/>
            <a:ext cx="1397000" cy="1447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0E284E-1789-7E4B-AE7C-DCC2C80F5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414" y="2222743"/>
            <a:ext cx="1397000" cy="1447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BC6363-4E18-A047-8C40-549ACA1A9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908" y="2222743"/>
            <a:ext cx="1422400" cy="1422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Subtitle 1">
            <a:extLst>
              <a:ext uri="{FF2B5EF4-FFF2-40B4-BE49-F238E27FC236}">
                <a16:creationId xmlns:a16="http://schemas.microsoft.com/office/drawing/2014/main" id="{A076CF4B-4B5A-CD47-ADAB-A30AF3EC8871}"/>
              </a:ext>
            </a:extLst>
          </p:cNvPr>
          <p:cNvSpPr txBox="1">
            <a:spLocks/>
          </p:cNvSpPr>
          <p:nvPr/>
        </p:nvSpPr>
        <p:spPr>
          <a:xfrm>
            <a:off x="1090587" y="3824174"/>
            <a:ext cx="1820236" cy="733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Team member 1</a:t>
            </a:r>
          </a:p>
          <a:p>
            <a:pPr algn="ctr"/>
            <a:r>
              <a:rPr lang="en-US" sz="1200" dirty="0"/>
              <a:t>(aka pink </a:t>
            </a:r>
            <a:r>
              <a:rPr lang="en-US" sz="1200" dirty="0" err="1"/>
              <a:t>Keras</a:t>
            </a:r>
            <a:r>
              <a:rPr lang="en-US" sz="1200" dirty="0"/>
              <a:t>)</a:t>
            </a:r>
          </a:p>
        </p:txBody>
      </p:sp>
      <p:sp>
        <p:nvSpPr>
          <p:cNvPr id="10" name="Subtitle 1">
            <a:extLst>
              <a:ext uri="{FF2B5EF4-FFF2-40B4-BE49-F238E27FC236}">
                <a16:creationId xmlns:a16="http://schemas.microsoft.com/office/drawing/2014/main" id="{4C240BBF-6AB5-FE41-96E2-58C5D75F5F7E}"/>
              </a:ext>
            </a:extLst>
          </p:cNvPr>
          <p:cNvSpPr txBox="1">
            <a:spLocks/>
          </p:cNvSpPr>
          <p:nvPr/>
        </p:nvSpPr>
        <p:spPr>
          <a:xfrm>
            <a:off x="3537027" y="3824174"/>
            <a:ext cx="1820236" cy="733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Team member 2</a:t>
            </a:r>
          </a:p>
          <a:p>
            <a:pPr algn="ctr"/>
            <a:r>
              <a:rPr lang="en-US" sz="1200" dirty="0"/>
              <a:t>(aka overfitting)</a:t>
            </a:r>
          </a:p>
        </p:txBody>
      </p:sp>
      <p:sp>
        <p:nvSpPr>
          <p:cNvPr id="13" name="Subtitle 1">
            <a:extLst>
              <a:ext uri="{FF2B5EF4-FFF2-40B4-BE49-F238E27FC236}">
                <a16:creationId xmlns:a16="http://schemas.microsoft.com/office/drawing/2014/main" id="{07CF995C-AC9C-6443-9A1C-B1FEE9CF2E31}"/>
              </a:ext>
            </a:extLst>
          </p:cNvPr>
          <p:cNvSpPr txBox="1">
            <a:spLocks/>
          </p:cNvSpPr>
          <p:nvPr/>
        </p:nvSpPr>
        <p:spPr>
          <a:xfrm>
            <a:off x="5983467" y="3824174"/>
            <a:ext cx="1820236" cy="733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Team member 3</a:t>
            </a:r>
          </a:p>
          <a:p>
            <a:pPr algn="ctr"/>
            <a:r>
              <a:rPr lang="en-US" sz="1200" dirty="0"/>
              <a:t>(aka always late)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64B0AA67-32CE-E045-9A8C-17A35D034B31}"/>
              </a:ext>
            </a:extLst>
          </p:cNvPr>
          <p:cNvSpPr txBox="1">
            <a:spLocks/>
          </p:cNvSpPr>
          <p:nvPr/>
        </p:nvSpPr>
        <p:spPr>
          <a:xfrm>
            <a:off x="8429908" y="3824174"/>
            <a:ext cx="1820236" cy="733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Team member 4</a:t>
            </a:r>
          </a:p>
          <a:p>
            <a:pPr algn="ctr"/>
            <a:r>
              <a:rPr lang="en-US" sz="1200" dirty="0"/>
              <a:t>(aka </a:t>
            </a:r>
            <a:r>
              <a:rPr lang="en-US" sz="1200" dirty="0" err="1"/>
              <a:t>softmax</a:t>
            </a:r>
            <a:r>
              <a:rPr lang="en-US" sz="1200" dirty="0"/>
              <a:t>)</a:t>
            </a:r>
          </a:p>
        </p:txBody>
      </p:sp>
      <p:sp>
        <p:nvSpPr>
          <p:cNvPr id="15" name="Line Callout 1 14">
            <a:extLst>
              <a:ext uri="{FF2B5EF4-FFF2-40B4-BE49-F238E27FC236}">
                <a16:creationId xmlns:a16="http://schemas.microsoft.com/office/drawing/2014/main" id="{6F328D80-56A5-AE42-80BE-CE876CB171A4}"/>
              </a:ext>
            </a:extLst>
          </p:cNvPr>
          <p:cNvSpPr/>
          <p:nvPr/>
        </p:nvSpPr>
        <p:spPr>
          <a:xfrm>
            <a:off x="7419414" y="4849830"/>
            <a:ext cx="4583900" cy="2008170"/>
          </a:xfrm>
          <a:prstGeom prst="borderCallout1">
            <a:avLst>
              <a:gd name="adj1" fmla="val 18750"/>
              <a:gd name="adj2" fmla="val -8333"/>
              <a:gd name="adj3" fmla="val -19425"/>
              <a:gd name="adj4" fmla="val -1583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”aka” are optional :).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I add them just for fun..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If you decide to add your aka, please be respectful and choose something related to your personality or your role in this project.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PS: remove this call out ;-)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77A51A-9CC7-81DD-550B-619173527408}"/>
              </a:ext>
            </a:extLst>
          </p:cNvPr>
          <p:cNvSpPr/>
          <p:nvPr/>
        </p:nvSpPr>
        <p:spPr>
          <a:xfrm>
            <a:off x="2339692" y="5868365"/>
            <a:ext cx="1792470" cy="3125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93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3CA5-8770-C14D-AA8F-67B3C6B0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min to convince the audience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27F97-547A-BD45-83D3-750EEA3DEC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Context, Problem, teasing about the solution</a:t>
            </a:r>
          </a:p>
        </p:txBody>
      </p:sp>
    </p:spTree>
    <p:extLst>
      <p:ext uri="{BB962C8B-B14F-4D97-AF65-F5344CB8AC3E}">
        <p14:creationId xmlns:p14="http://schemas.microsoft.com/office/powerpoint/2010/main" val="173045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EA1A-481A-0940-B0BA-2FFF7F38B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and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A249E-6475-F748-8E67-C370D02A25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24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43FD-DF7A-0143-BBB6-F8CCF4FB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16B41-3CDA-8442-9F9C-691146145C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1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F826-9152-A345-9423-B2B2C1F8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solutions / State of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185F2-38EC-F445-AEAA-FB200B15DD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995-1BB6-964B-8AFE-583FBD770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Solution /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E80E-49C7-2E45-AA8D-6E92A3E0BA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77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8784-9BD3-D143-88B2-F97D61FF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7FBF1-6D02-AD48-B9DC-7F3193C376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76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8784-9BD3-D143-88B2-F97D61FF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7FBF1-6D02-AD48-B9DC-7F3193C376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87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8696-5D4A-FA41-9782-D300D38A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AE31-30DF-0C47-B923-A567D1816D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9323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8696-5D4A-FA41-9782-D300D38A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selection and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AE31-30DF-0C47-B923-A567D1816D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Normalization, regularization, data augmentation, layers, activation functions, Tuning, </a:t>
            </a:r>
          </a:p>
        </p:txBody>
      </p:sp>
    </p:spTree>
    <p:extLst>
      <p:ext uri="{BB962C8B-B14F-4D97-AF65-F5344CB8AC3E}">
        <p14:creationId xmlns:p14="http://schemas.microsoft.com/office/powerpoint/2010/main" val="284581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220F-27FE-6F41-9157-3A1058FD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Training – validation - testing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D2EF8-5897-F54E-8F92-788868946D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40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662C0-E91C-B74F-B6AF-4EC6C365D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Evaluations – Performance – comparing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EF1D2-968A-7F4D-A49F-7315A1082B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Baseline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342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600D-3AFE-0445-AC65-AC2D1A45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Outcomes/finding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D8456-0354-004E-9344-6061E2A4E6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22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A2B84-8608-7F4E-85F1-35D36FAF8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 and Perspectives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24419-985F-8C49-91DA-D808B6E073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65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A5BF-633E-524C-9D81-790229479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Bibliographical 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F6ABC-984E-2B49-A821-5296118D29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91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2522-7D85-4143-9766-079227A5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7E1D0-C88F-D04E-A505-E4097285BC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77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D1B7-22A9-C448-B46E-84F4E21D8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B4FDC-F4FE-CF46-93B1-7A71687BB0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54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954A-43FA-824F-B16F-3EF45D84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65366-FD54-6A4F-9B93-578E3876AA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14743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894 Capstone Project</a:t>
            </a:r>
          </a:p>
          <a:p>
            <a:r>
              <a:t>Advanced Portfolio Optimization with Deep Reinforcement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Adversarial-Robust Multi-Head Attention DQN</a:t>
            </a:r>
          </a:p>
          <a:p>
            <a:pPr>
              <a:defRPr sz="4400" b="1">
                <a:solidFill>
                  <a:srgbClr val="003366"/>
                </a:solidFill>
              </a:defRPr>
            </a:pPr>
            <a:r>
              <a:t>for Asset Pricing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• Asset pricing in financial markets is a complex sequential decision-making problem</a:t>
            </a:r>
          </a:p>
          <a:p>
            <a:pPr>
              <a:spcAft>
                <a:spcPts val="600"/>
              </a:spcAft>
              <a:defRPr sz="1800" b="1"/>
            </a:pPr>
            <a:r>
              <a:t>• Challenges include:</a:t>
            </a:r>
          </a:p>
          <a:p>
            <a:pPr lvl="1">
              <a:spcAft>
                <a:spcPts val="600"/>
              </a:spcAft>
              <a:defRPr sz="1600"/>
            </a:pPr>
            <a:r>
              <a:t>  - High dimensionality (price, macro, sentiment, technical indicators)</a:t>
            </a:r>
          </a:p>
          <a:p>
            <a:pPr lvl="1">
              <a:spcAft>
                <a:spcPts val="600"/>
              </a:spcAft>
              <a:defRPr sz="1600"/>
            </a:pPr>
            <a:r>
              <a:t>  - Temporal dependencies (long-range patterns in time series)</a:t>
            </a:r>
          </a:p>
          <a:p>
            <a:pPr lvl="1">
              <a:spcAft>
                <a:spcPts val="1200"/>
              </a:spcAft>
              <a:defRPr sz="1600"/>
            </a:pPr>
            <a:r>
              <a:t>  - Adversarial nature (data corruption, market manipulation, model attacks)</a:t>
            </a:r>
          </a:p>
          <a:p>
            <a:pPr>
              <a:spcAft>
                <a:spcPts val="600"/>
              </a:spcAft>
              <a:defRPr sz="1800" b="1"/>
            </a:pPr>
            <a:r>
              <a:t>• Our Solution: Multi-Head Attention Deep Q-Network (MHA-DQN)</a:t>
            </a:r>
          </a:p>
          <a:p>
            <a:pPr lvl="1">
              <a:spcAft>
                <a:spcPts val="600"/>
              </a:spcAft>
              <a:defRPr sz="1600"/>
            </a:pPr>
            <a:r>
              <a:t>  - Multi-head attention for complex feature interactions</a:t>
            </a:r>
          </a:p>
          <a:p>
            <a:pPr lvl="1">
              <a:spcAft>
                <a:spcPts val="600"/>
              </a:spcAft>
              <a:defRPr sz="1600"/>
            </a:pPr>
            <a:r>
              <a:t>  - Deep Q-learning for optimal sequential decisions</a:t>
            </a:r>
          </a:p>
          <a:p>
            <a:pPr lvl="1">
              <a:defRPr sz="1600"/>
            </a:pPr>
            <a:r>
              <a:t>  - Adversarial training for robustness guarantees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 b="1"/>
            </a:pPr>
            <a:r>
              <a:t>Traditional asset pricing models face limitations:</a:t>
            </a:r>
          </a:p>
          <a:p>
            <a:pPr>
              <a:spcAft>
                <a:spcPts val="600"/>
              </a:spcAft>
              <a:defRPr sz="1600" b="1"/>
            </a:pPr>
            <a:r>
              <a:t>1. Limited Feature Interaction</a:t>
            </a:r>
          </a:p>
          <a:p>
            <a:pPr lvl="1">
              <a:spcAft>
                <a:spcPts val="1000"/>
              </a:spcAft>
              <a:defRPr sz="1400"/>
            </a:pPr>
            <a:r>
              <a:t>   Example: Can't capture how RSI interacts with earnings sentiment during high volatility</a:t>
            </a:r>
          </a:p>
          <a:p>
            <a:pPr>
              <a:spcAft>
                <a:spcPts val="600"/>
              </a:spcAft>
              <a:defRPr sz="1600" b="1"/>
            </a:pPr>
            <a:r>
              <a:t>2. Vulnerability to Adversarial Attacks</a:t>
            </a:r>
          </a:p>
          <a:p>
            <a:pPr lvl="1">
              <a:spcAft>
                <a:spcPts val="1000"/>
              </a:spcAft>
              <a:defRPr sz="1400"/>
            </a:pPr>
            <a:r>
              <a:t>   Example: Small perturbations to input features can cause incorrect trading decisions</a:t>
            </a:r>
          </a:p>
          <a:p>
            <a:pPr>
              <a:spcAft>
                <a:spcPts val="600"/>
              </a:spcAft>
              <a:defRPr sz="1600" b="1"/>
            </a:pPr>
            <a:r>
              <a:t>3. Sequential Decision Complexity</a:t>
            </a:r>
          </a:p>
          <a:p>
            <a:pPr lvl="1">
              <a:spcAft>
                <a:spcPts val="1000"/>
              </a:spcAft>
              <a:defRPr sz="1400"/>
            </a:pPr>
            <a:r>
              <a:t>   Example: Need to consider entire history of 20+ time steps for optimal action</a:t>
            </a:r>
          </a:p>
          <a:p>
            <a:pPr>
              <a:spcAft>
                <a:spcPts val="600"/>
              </a:spcAft>
              <a:defRPr sz="1600" b="1"/>
            </a:pPr>
            <a:r>
              <a:t>4. Lack of Robustness Metrics</a:t>
            </a:r>
          </a:p>
          <a:p>
            <a:pPr lvl="1">
              <a:defRPr sz="1400"/>
            </a:pPr>
            <a:r>
              <a:t>   Example: Model performance degrades significantly under data corruption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 b="1"/>
            </a:pPr>
            <a:r>
              <a:t>Three-Stage Pipeline:</a:t>
            </a:r>
          </a:p>
          <a:p>
            <a:pPr>
              <a:spcAft>
                <a:spcPts val="600"/>
              </a:spcAft>
              <a:defRPr sz="1800" b="1"/>
            </a:pPr>
            <a:r>
              <a:t>Stage 1: Feature Engineering</a:t>
            </a:r>
          </a:p>
          <a:p>
            <a:pPr lvl="1">
              <a:spcAft>
                <a:spcPts val="600"/>
              </a:spcAft>
              <a:defRPr sz="1400"/>
            </a:pPr>
            <a:r>
              <a:t>  • Extract 8 feature groups (Price, Macro, Commodities, Market Indices, Forex, Technical, Earnings, Crypto)</a:t>
            </a:r>
          </a:p>
          <a:p>
            <a:pPr lvl="1">
              <a:spcAft>
                <a:spcPts val="1000"/>
              </a:spcAft>
              <a:defRPr sz="1400"/>
            </a:pPr>
            <a:r>
              <a:t>  • Create sequences of length 20 time steps</a:t>
            </a:r>
          </a:p>
          <a:p>
            <a:pPr>
              <a:spcAft>
                <a:spcPts val="600"/>
              </a:spcAft>
              <a:defRPr sz="1800" b="1"/>
            </a:pPr>
            <a:r>
              <a:t>Stage 2: Multi-Head Attention DQN Training</a:t>
            </a:r>
          </a:p>
          <a:p>
            <a:pPr lvl="1">
              <a:spcAft>
                <a:spcPts val="600"/>
              </a:spcAft>
              <a:defRPr sz="1400"/>
            </a:pPr>
            <a:r>
              <a:t>  • 8 attention heads process feature groups in parallel</a:t>
            </a:r>
          </a:p>
          <a:p>
            <a:pPr lvl="1">
              <a:spcAft>
                <a:spcPts val="1000"/>
              </a:spcAft>
              <a:defRPr sz="1400"/>
            </a:pPr>
            <a:r>
              <a:t>  • Q-learning learns optimal BUY/HOLD/SELL actions</a:t>
            </a:r>
          </a:p>
          <a:p>
            <a:pPr>
              <a:spcAft>
                <a:spcPts val="600"/>
              </a:spcAft>
              <a:defRPr sz="1800" b="1"/>
            </a:pPr>
            <a:r>
              <a:t>Stage 3: Adversarial Training &amp; Evaluation</a:t>
            </a:r>
          </a:p>
          <a:p>
            <a:pPr lvl="1">
              <a:spcAft>
                <a:spcPts val="600"/>
              </a:spcAft>
              <a:defRPr sz="1400"/>
            </a:pPr>
            <a:r>
              <a:t>  • Train on adversarial examples (FGSM, PGD, BIM, C&amp;W attacks)</a:t>
            </a:r>
          </a:p>
          <a:p>
            <a:pPr lvl="1">
              <a:defRPr sz="1400"/>
            </a:pPr>
            <a:r>
              <a:t>  • Evaluate robustness against multiple attack types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Engineering: Practical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600" b="1"/>
            </a:pPr>
            <a:r>
              <a:t>Group 1: Price &amp; Returns Features</a:t>
            </a:r>
          </a:p>
          <a:p>
            <a:pPr lvl="1">
              <a:spcAft>
                <a:spcPts val="400"/>
              </a:spcAft>
              <a:defRPr sz="1200">
                <a:latin typeface="Courier New"/>
              </a:defRPr>
            </a:pPr>
            <a:r>
              <a:t>  • return = (close_today - close_yesterday) / close_yesterday</a:t>
            </a:r>
          </a:p>
          <a:p>
            <a:pPr lvl="1">
              <a:spcAft>
                <a:spcPts val="400"/>
              </a:spcAft>
              <a:defRPr sz="1200">
                <a:latin typeface="Courier New"/>
              </a:defRPr>
            </a:pPr>
            <a:r>
              <a:t>  • volatility = std(returns, window=20 days)</a:t>
            </a:r>
          </a:p>
          <a:p>
            <a:pPr lvl="1">
              <a:spcAft>
                <a:spcPts val="1000"/>
              </a:spcAft>
              <a:defRPr sz="1200">
                <a:latin typeface="Courier New"/>
              </a:defRPr>
            </a:pPr>
            <a:r>
              <a:t>  • RSI_14 = Relative Strength Index (overbought/oversold indicator)</a:t>
            </a:r>
          </a:p>
          <a:p>
            <a:pPr>
              <a:spcAft>
                <a:spcPts val="600"/>
              </a:spcAft>
              <a:defRPr sz="1600" b="1"/>
            </a:pPr>
            <a:r>
              <a:t>Group 6: Technical Indicators</a:t>
            </a:r>
          </a:p>
          <a:p>
            <a:pPr lvl="1">
              <a:spcAft>
                <a:spcPts val="400"/>
              </a:spcAft>
              <a:defRPr sz="1200">
                <a:latin typeface="Courier New"/>
              </a:defRPr>
            </a:pPr>
            <a:r>
              <a:t>  • MACD = EMA(12) - EMA(26)  (momentum indicator)</a:t>
            </a:r>
          </a:p>
          <a:p>
            <a:pPr lvl="1">
              <a:spcAft>
                <a:spcPts val="400"/>
              </a:spcAft>
              <a:defRPr sz="1200">
                <a:latin typeface="Courier New"/>
              </a:defRPr>
            </a:pPr>
            <a:r>
              <a:t>  • Bollinger Bands: upper/middle/lower = sma ± 2*std</a:t>
            </a:r>
          </a:p>
          <a:p>
            <a:pPr lvl="1">
              <a:spcAft>
                <a:spcPts val="1000"/>
              </a:spcAft>
              <a:defRPr sz="1200">
                <a:latin typeface="Courier New"/>
              </a:defRPr>
            </a:pPr>
            <a:r>
              <a:t>  • ATR = Average True Range (volatility measure)</a:t>
            </a:r>
          </a:p>
          <a:p>
            <a:pPr>
              <a:spcAft>
                <a:spcPts val="600"/>
              </a:spcAft>
              <a:defRPr sz="1600" b="1"/>
            </a:pPr>
            <a:r>
              <a:t>Group 7: Earnings &amp; Sentiment</a:t>
            </a:r>
          </a:p>
          <a:p>
            <a:pPr lvl="1">
              <a:spcAft>
                <a:spcPts val="400"/>
              </a:spcAft>
              <a:defRPr sz="1200">
                <a:latin typeface="Courier New"/>
              </a:defRPr>
            </a:pPr>
            <a:r>
              <a:t>  • earnings_surprise_pct = (actual_eps - estimated_eps) / estimated_eps</a:t>
            </a:r>
          </a:p>
          <a:p>
            <a:pPr lvl="1">
              <a:defRPr sz="1200">
                <a:latin typeface="Courier New"/>
              </a:defRPr>
            </a:pPr>
            <a:r>
              <a:t>  • earnings_call_score = OpenAI LLM analysis of transcript sentiment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Multi-Head Attention: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 b="1"/>
            </a:pPr>
            <a:r>
              <a:t>Example: Processing META Stock Features</a:t>
            </a:r>
          </a:p>
          <a:p>
            <a:pPr>
              <a:spcAft>
                <a:spcPts val="800"/>
              </a:spcAft>
              <a:defRPr sz="1600"/>
            </a:pPr>
            <a:r>
              <a:t>Input: 20-day sequence of 43 features</a:t>
            </a:r>
          </a:p>
          <a:p>
            <a:pPr>
              <a:spcAft>
                <a:spcPts val="800"/>
              </a:spcAft>
              <a:defRPr sz="1600" b="1"/>
            </a:pPr>
            <a:r>
              <a:t>8 Attention Heads Process Different Aspects:</a:t>
            </a:r>
          </a:p>
          <a:p>
            <a:pPr lvl="1">
              <a:spcAft>
                <a:spcPts val="400"/>
              </a:spcAft>
              <a:defRPr sz="1400"/>
            </a:pPr>
            <a:r>
              <a:t>Head 1 (Price): Focuses on recent price trends vs. historical patterns</a:t>
            </a:r>
          </a:p>
          <a:p>
            <a:pPr lvl="1">
              <a:spcAft>
                <a:spcPts val="400"/>
              </a:spcAft>
              <a:defRPr sz="1400"/>
            </a:pPr>
            <a:r>
              <a:t>Head 2 (Macro): Weights GDP, CPI, unemployment relative to stock price</a:t>
            </a:r>
          </a:p>
          <a:p>
            <a:pPr lvl="1">
              <a:spcAft>
                <a:spcPts val="400"/>
              </a:spcAft>
              <a:defRPr sz="1400"/>
            </a:pPr>
            <a:r>
              <a:t>Head 3 (Commodities): Correlates oil/gold prices with tech stock movements</a:t>
            </a:r>
          </a:p>
          <a:p>
            <a:pPr lvl="1">
              <a:spcAft>
                <a:spcPts val="400"/>
              </a:spcAft>
              <a:defRPr sz="1400"/>
            </a:pPr>
            <a:r>
              <a:t>Head 4 (Market): Compares stock to SPY, sector ETF performance</a:t>
            </a:r>
          </a:p>
          <a:p>
            <a:pPr lvl="1">
              <a:spcAft>
                <a:spcPts val="400"/>
              </a:spcAft>
              <a:defRPr sz="1400"/>
            </a:pPr>
            <a:r>
              <a:t>Head 5 (Forex): Links USD strength to international revenue impact</a:t>
            </a:r>
          </a:p>
          <a:p>
            <a:pPr lvl="1">
              <a:spcAft>
                <a:spcPts val="400"/>
              </a:spcAft>
              <a:defRPr sz="1400"/>
            </a:pPr>
            <a:r>
              <a:t>Head 6 (Technical): Identifies MACD crossovers, RSI extremes</a:t>
            </a:r>
          </a:p>
          <a:p>
            <a:pPr lvl="1">
              <a:spcAft>
                <a:spcPts val="400"/>
              </a:spcAft>
              <a:defRPr sz="1400"/>
            </a:pPr>
            <a:r>
              <a:t>Head 7 (Earnings): Emphasizes earnings calls near report dates</a:t>
            </a:r>
          </a:p>
          <a:p>
            <a:pPr lvl="1">
              <a:spcAft>
                <a:spcPts val="800"/>
              </a:spcAft>
              <a:defRPr sz="1400"/>
            </a:pPr>
            <a:r>
              <a:t>Head 8 (Crypto): Monitors Bitcoin correlation with tech sentiment</a:t>
            </a:r>
          </a:p>
          <a:p>
            <a:pPr>
              <a:defRPr sz="1600" b="1"/>
            </a:pPr>
            <a:r>
              <a:t>Output: Weighted combination → Q-values for BUY/HOLD/SELL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Process: Step-by-Step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 b="1"/>
            </a:pPr>
            <a:r>
              <a:t>Example: Training on META Stock Data</a:t>
            </a:r>
          </a:p>
          <a:p>
            <a:pPr>
              <a:spcAft>
                <a:spcPts val="600"/>
              </a:spcAft>
              <a:defRPr sz="1600" b="1"/>
            </a:pPr>
            <a:r>
              <a:t>Step 1: Experience Collection</a:t>
            </a:r>
          </a:p>
          <a:p>
            <a:pPr lvl="1">
              <a:spcAft>
                <a:spcPts val="400"/>
              </a:spcAft>
              <a:defRPr sz="1400"/>
            </a:pPr>
            <a:r>
              <a:t>  • Observe state: [Price features, Technical indicators, Earnings sentiment, ...]</a:t>
            </a:r>
          </a:p>
          <a:p>
            <a:pPr lvl="1">
              <a:spcAft>
                <a:spcPts val="400"/>
              </a:spcAft>
              <a:defRPr sz="1400"/>
            </a:pPr>
            <a:r>
              <a:t>  • Model predicts Q-values: BUY=0.8, HOLD=0.5, SELL=0.3 → Action: BUY</a:t>
            </a:r>
          </a:p>
          <a:p>
            <a:pPr lvl="1">
              <a:spcAft>
                <a:spcPts val="1000"/>
              </a:spcAft>
              <a:defRPr sz="1400"/>
            </a:pPr>
            <a:r>
              <a:t>  • Execute action, observe reward: +2.5% portfolio return</a:t>
            </a:r>
          </a:p>
          <a:p>
            <a:pPr>
              <a:spcAft>
                <a:spcPts val="600"/>
              </a:spcAft>
              <a:defRPr sz="1600" b="1"/>
            </a:pPr>
            <a:r>
              <a:t>Step 2: Experience Replay</a:t>
            </a:r>
          </a:p>
          <a:p>
            <a:pPr lvl="1">
              <a:spcAft>
                <a:spcPts val="400"/>
              </a:spcAft>
              <a:defRPr sz="1400"/>
            </a:pPr>
            <a:r>
              <a:t>  • Store transition: (state, BUY, +2.5%, next_state)</a:t>
            </a:r>
          </a:p>
          <a:p>
            <a:pPr lvl="1">
              <a:spcAft>
                <a:spcPts val="400"/>
              </a:spcAft>
              <a:defRPr sz="1400"/>
            </a:pPr>
            <a:r>
              <a:t>  • Sample batch of 32 past experiences randomly</a:t>
            </a:r>
          </a:p>
          <a:p>
            <a:pPr lvl="1">
              <a:spcAft>
                <a:spcPts val="1000"/>
              </a:spcAft>
              <a:defRPr sz="1400"/>
            </a:pPr>
            <a:r>
              <a:t>  • Breaks temporal correlation, improves learning stability</a:t>
            </a:r>
          </a:p>
          <a:p>
            <a:pPr>
              <a:spcAft>
                <a:spcPts val="600"/>
              </a:spcAft>
              <a:defRPr sz="1600" b="1"/>
            </a:pPr>
            <a:r>
              <a:t>Step 3: Target Network Update</a:t>
            </a:r>
          </a:p>
          <a:p>
            <a:pPr lvl="1">
              <a:spcAft>
                <a:spcPts val="400"/>
              </a:spcAft>
              <a:defRPr sz="1400">
                <a:latin typeface="Courier New"/>
              </a:defRPr>
            </a:pPr>
            <a:r>
              <a:t>  • Compute target: Q_target = reward + γ * max(Q_target_network(next_state))</a:t>
            </a:r>
          </a:p>
          <a:p>
            <a:pPr lvl="1">
              <a:spcAft>
                <a:spcPts val="400"/>
              </a:spcAft>
              <a:defRPr sz="1400">
                <a:latin typeface="Courier New"/>
              </a:defRPr>
            </a:pPr>
            <a:r>
              <a:t>  • Update main network to minimize (Q_predict - Q_target)²</a:t>
            </a:r>
          </a:p>
          <a:p>
            <a:pPr lvl="1">
              <a:defRPr sz="1400"/>
            </a:pPr>
            <a:r>
              <a:t>  • Copy main network → target network every 100 steps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Adversarial Training: 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 b="1"/>
            </a:pPr>
            <a:r>
              <a:t>Problem: Models vulnerable to input perturbations</a:t>
            </a:r>
          </a:p>
          <a:p>
            <a:pPr>
              <a:spcAft>
                <a:spcPts val="600"/>
              </a:spcAft>
              <a:defRPr sz="1600" b="1"/>
            </a:pPr>
            <a:r>
              <a:t>Example Attack Scenario:</a:t>
            </a:r>
          </a:p>
          <a:p>
            <a:pPr lvl="1">
              <a:spcAft>
                <a:spcPts val="400"/>
              </a:spcAft>
              <a:defRPr sz="1400">
                <a:latin typeface="Courier New"/>
              </a:defRPr>
            </a:pPr>
            <a:r>
              <a:t>  Original: RSI = 0.65, MACD = 0.02 → Prediction: BUY</a:t>
            </a:r>
          </a:p>
          <a:p>
            <a:pPr lvl="1">
              <a:spcAft>
                <a:spcPts val="1000"/>
              </a:spcAft>
              <a:defRPr sz="1400">
                <a:latin typeface="Courier New"/>
              </a:defRPr>
            </a:pPr>
            <a:r>
              <a:t>  Perturbed: RSI = 0.66, MACD = 0.021 → Prediction: SELL (WRONG!)</a:t>
            </a:r>
          </a:p>
          <a:p>
            <a:pPr>
              <a:spcAft>
                <a:spcPts val="600"/>
              </a:spcAft>
              <a:defRPr sz="1600" b="1"/>
            </a:pPr>
            <a:r>
              <a:t>Solution: Adversarial Training</a:t>
            </a:r>
          </a:p>
          <a:p>
            <a:pPr>
              <a:spcAft>
                <a:spcPts val="400"/>
              </a:spcAft>
              <a:defRPr sz="1400" b="1"/>
            </a:pPr>
            <a:r>
              <a:t>FGSM Attack (Fast Gradient Sign Method):</a:t>
            </a:r>
          </a:p>
          <a:p>
            <a:pPr lvl="1">
              <a:spcAft>
                <a:spcPts val="400"/>
              </a:spcAft>
              <a:defRPr sz="1200">
                <a:latin typeface="Courier New"/>
              </a:defRPr>
            </a:pPr>
            <a:r>
              <a:t>  1. Compute gradient: ∇_x L(model(x), label)</a:t>
            </a:r>
          </a:p>
          <a:p>
            <a:pPr lvl="1">
              <a:spcAft>
                <a:spcPts val="400"/>
              </a:spcAft>
              <a:defRPr sz="1200">
                <a:latin typeface="Courier New"/>
              </a:defRPr>
            </a:pPr>
            <a:r>
              <a:t>  2. Create perturbation: δ = ε * sign(∇_x L)</a:t>
            </a:r>
          </a:p>
          <a:p>
            <a:pPr lvl="1">
              <a:spcAft>
                <a:spcPts val="800"/>
              </a:spcAft>
              <a:defRPr sz="1200">
                <a:latin typeface="Courier New"/>
              </a:defRPr>
            </a:pPr>
            <a:r>
              <a:t>  3. Adversarial example: x_adv = x + δ (ε = 0.01)</a:t>
            </a:r>
          </a:p>
          <a:p>
            <a:pPr>
              <a:spcAft>
                <a:spcPts val="400"/>
              </a:spcAft>
              <a:defRPr sz="1400" b="1"/>
            </a:pPr>
            <a:r>
              <a:t>Training Process:</a:t>
            </a:r>
          </a:p>
          <a:p>
            <a:pPr lvl="1">
              <a:spcAft>
                <a:spcPts val="400"/>
              </a:spcAft>
              <a:defRPr sz="1200"/>
            </a:pPr>
            <a:r>
              <a:t>  • Train on 50% clean data + 50% adversarial examples</a:t>
            </a:r>
          </a:p>
          <a:p>
            <a:pPr lvl="1">
              <a:spcAft>
                <a:spcPts val="400"/>
              </a:spcAft>
              <a:defRPr sz="1200"/>
            </a:pPr>
            <a:r>
              <a:t>  • Model learns to make consistent predictions under perturbations</a:t>
            </a:r>
          </a:p>
          <a:p>
            <a:pPr lvl="1">
              <a:defRPr sz="1200"/>
            </a:pPr>
            <a:r>
              <a:t>  • Result: Robust model that resists attacks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META Stock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600" b="1"/>
            </a:pPr>
            <a:r>
              <a:t>Experimental Setup:</a:t>
            </a:r>
          </a:p>
          <a:p>
            <a:pPr lvl="1">
              <a:spcAft>
                <a:spcPts val="400"/>
              </a:spcAft>
              <a:defRPr sz="1400"/>
            </a:pPr>
            <a:r>
              <a:t>  • Ticker: META (Meta Platforms Inc.)</a:t>
            </a:r>
          </a:p>
          <a:p>
            <a:pPr lvl="1">
              <a:spcAft>
                <a:spcPts val="400"/>
              </a:spcAft>
              <a:defRPr sz="1400"/>
            </a:pPr>
            <a:r>
              <a:t>  • Backtest Period: 229 trading days</a:t>
            </a:r>
          </a:p>
          <a:p>
            <a:pPr lvl="1">
              <a:spcAft>
                <a:spcPts val="1000"/>
              </a:spcAft>
              <a:defRPr sz="1400"/>
            </a:pPr>
            <a:r>
              <a:t>  • Initial Portfolio: $10,000</a:t>
            </a:r>
          </a:p>
          <a:p>
            <a:pPr>
              <a:spcAft>
                <a:spcPts val="600"/>
              </a:spcAft>
              <a:defRPr sz="1600" b="1"/>
            </a:pPr>
            <a:r>
              <a:t>Performance Comparison:</a:t>
            </a:r>
          </a:p>
          <a:p>
            <a:pPr>
              <a:spcAft>
                <a:spcPts val="400"/>
              </a:spcAft>
              <a:defRPr sz="1400" b="1"/>
            </a:pPr>
            <a:r>
              <a:t>MHA-DQN Clean: Sharpe=2.88, CAGR=78%, Total Return=69%</a:t>
            </a:r>
          </a:p>
          <a:p>
            <a:pPr>
              <a:spcAft>
                <a:spcPts val="400"/>
              </a:spcAft>
              <a:defRPr sz="1400"/>
            </a:pPr>
            <a:r>
              <a:t>MHA-DQN Robust: Sharpe=2.32, CAGR=58%, Total Return=52%</a:t>
            </a:r>
          </a:p>
          <a:p>
            <a:pPr>
              <a:spcAft>
                <a:spcPts val="1000"/>
              </a:spcAft>
              <a:defRPr sz="1400"/>
            </a:pPr>
            <a:r>
              <a:t>Baseline DQN: Sharpe=0.47, CAGR=17.9%</a:t>
            </a:r>
          </a:p>
          <a:p>
            <a:pPr>
              <a:spcAft>
                <a:spcPts val="600"/>
              </a:spcAft>
              <a:defRPr sz="1600" b="1"/>
            </a:pPr>
            <a:r>
              <a:t>Key Achievements:</a:t>
            </a:r>
          </a:p>
          <a:p>
            <a:pPr lvl="1">
              <a:spcAft>
                <a:spcPts val="400"/>
              </a:spcAft>
              <a:defRPr sz="1400"/>
            </a:pPr>
            <a:r>
              <a:t>  • 515% improvement in Sharpe ratio over baseline</a:t>
            </a:r>
          </a:p>
          <a:p>
            <a:pPr lvl="1">
              <a:spcAft>
                <a:spcPts val="400"/>
              </a:spcAft>
              <a:defRPr sz="1400"/>
            </a:pPr>
            <a:r>
              <a:t>  • Final portfolio value: $16,875.16 (from $10,000)</a:t>
            </a:r>
          </a:p>
          <a:p>
            <a:pPr lvl="1">
              <a:defRPr sz="1400"/>
            </a:pPr>
            <a:r>
              <a:t>  • Maximum drawdown: -7% (excellent risk control)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Adversarial Robustness: Attack Resistance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600" b="1"/>
            </a:pPr>
            <a:r>
              <a:t>Attack Resistance (100% = Perfect Resistance):</a:t>
            </a:r>
          </a:p>
          <a:p>
            <a:pPr>
              <a:spcAft>
                <a:spcPts val="400"/>
              </a:spcAft>
              <a:defRPr sz="1400" b="1"/>
            </a:pPr>
            <a:r>
              <a:t>Fast Gradient Sign Method (FGSM):</a:t>
            </a:r>
          </a:p>
          <a:p>
            <a:pPr lvl="1">
              <a:spcAft>
                <a:spcPts val="400"/>
              </a:spcAft>
              <a:defRPr sz="1200"/>
            </a:pPr>
            <a:r>
              <a:t>  • Resistance: 100.0%</a:t>
            </a:r>
          </a:p>
          <a:p>
            <a:pPr lvl="1">
              <a:spcAft>
                <a:spcPts val="800"/>
              </a:spcAft>
              <a:defRPr sz="1200"/>
            </a:pPr>
            <a:r>
              <a:t>  • Robustness Score: 1.00</a:t>
            </a:r>
          </a:p>
          <a:p>
            <a:pPr>
              <a:spcAft>
                <a:spcPts val="400"/>
              </a:spcAft>
              <a:defRPr sz="1400" b="1"/>
            </a:pPr>
            <a:r>
              <a:t>Projected Gradient Descent (PGD):</a:t>
            </a:r>
          </a:p>
          <a:p>
            <a:pPr lvl="1">
              <a:spcAft>
                <a:spcPts val="400"/>
              </a:spcAft>
              <a:defRPr sz="1200"/>
            </a:pPr>
            <a:r>
              <a:t>  • Resistance: 100.0%</a:t>
            </a:r>
          </a:p>
          <a:p>
            <a:pPr lvl="1">
              <a:spcAft>
                <a:spcPts val="800"/>
              </a:spcAft>
              <a:defRPr sz="1200"/>
            </a:pPr>
            <a:r>
              <a:t>  • Robustness Score: 1.00</a:t>
            </a:r>
          </a:p>
          <a:p>
            <a:pPr>
              <a:spcAft>
                <a:spcPts val="400"/>
              </a:spcAft>
              <a:defRPr sz="1400" b="1"/>
            </a:pPr>
            <a:r>
              <a:t>Basic Iterative Method (BIM):</a:t>
            </a:r>
          </a:p>
          <a:p>
            <a:pPr lvl="1">
              <a:spcAft>
                <a:spcPts val="400"/>
              </a:spcAft>
              <a:defRPr sz="1200"/>
            </a:pPr>
            <a:r>
              <a:t>  • Resistance: 100.0%</a:t>
            </a:r>
          </a:p>
          <a:p>
            <a:pPr lvl="1">
              <a:spcAft>
                <a:spcPts val="800"/>
              </a:spcAft>
              <a:defRPr sz="1200"/>
            </a:pPr>
            <a:r>
              <a:t>  • Robustness Score: 1.00</a:t>
            </a:r>
          </a:p>
          <a:p>
            <a:pPr>
              <a:spcAft>
                <a:spcPts val="400"/>
              </a:spcAft>
              <a:defRPr sz="1400" b="1"/>
            </a:pPr>
            <a:r>
              <a:t>Carlini &amp; Wagner (C&amp;W):</a:t>
            </a:r>
          </a:p>
          <a:p>
            <a:pPr lvl="1">
              <a:spcAft>
                <a:spcPts val="400"/>
              </a:spcAft>
              <a:defRPr sz="1200"/>
            </a:pPr>
            <a:r>
              <a:t>  • Resistance: 100.0%</a:t>
            </a:r>
          </a:p>
          <a:p>
            <a:pPr lvl="1">
              <a:spcAft>
                <a:spcPts val="800"/>
              </a:spcAft>
              <a:defRPr sz="1200"/>
            </a:pPr>
            <a:r>
              <a:t>  • Robustness Score: 1.00</a:t>
            </a:r>
          </a:p>
          <a:p>
            <a:pPr>
              <a:spcAft>
                <a:spcPts val="600"/>
              </a:spcAft>
              <a:defRPr sz="1600" b="1"/>
            </a:pPr>
            <a:r>
              <a:t>Key Insight:</a:t>
            </a:r>
          </a:p>
          <a:p>
            <a:pPr>
              <a:spcAft>
                <a:spcPts val="400"/>
              </a:spcAft>
              <a:defRPr sz="1400"/>
            </a:pPr>
            <a:r>
              <a:t>Adversarially-trained model maintains 100% resistance to major attack types</a:t>
            </a:r>
          </a:p>
          <a:p>
            <a:pPr>
              <a:defRPr sz="1400"/>
            </a:pPr>
            <a:r>
              <a:t>This ensures reliable performance even under data corruption or adversarial inputs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 b="1"/>
            </a:pPr>
            <a:r>
              <a:t>Google Cloud Platform (GCP) Deployment:</a:t>
            </a:r>
          </a:p>
          <a:p>
            <a:pPr>
              <a:spcAft>
                <a:spcPts val="600"/>
              </a:spcAft>
              <a:defRPr sz="1600" b="1"/>
            </a:pPr>
            <a:r>
              <a:t>Cloud Run with GPU Acceleration:</a:t>
            </a:r>
          </a:p>
          <a:p>
            <a:pPr lvl="1">
              <a:spcAft>
                <a:spcPts val="400"/>
              </a:spcAft>
              <a:defRPr sz="1400"/>
            </a:pPr>
            <a:r>
              <a:t>  • GPU: NVIDIA L4 (1 GPU per instance)</a:t>
            </a:r>
          </a:p>
          <a:p>
            <a:pPr lvl="1">
              <a:spcAft>
                <a:spcPts val="400"/>
              </a:spcAft>
              <a:defRPr sz="1400"/>
            </a:pPr>
            <a:r>
              <a:t>  • Memory: 16 GB RAM</a:t>
            </a:r>
          </a:p>
          <a:p>
            <a:pPr lvl="1">
              <a:spcAft>
                <a:spcPts val="400"/>
              </a:spcAft>
              <a:defRPr sz="1400"/>
            </a:pPr>
            <a:r>
              <a:t>  • CPU: 4 vCPUs</a:t>
            </a:r>
          </a:p>
          <a:p>
            <a:pPr lvl="1">
              <a:spcAft>
                <a:spcPts val="1000"/>
              </a:spcAft>
              <a:defRPr sz="1400"/>
            </a:pPr>
            <a:r>
              <a:t>  • Timeout: 3600 seconds (1 hour)</a:t>
            </a:r>
          </a:p>
          <a:p>
            <a:pPr>
              <a:spcAft>
                <a:spcPts val="600"/>
              </a:spcAft>
              <a:defRPr sz="1600" b="1"/>
            </a:pPr>
            <a:r>
              <a:t>Data Pipeline:</a:t>
            </a:r>
          </a:p>
          <a:p>
            <a:pPr lvl="1">
              <a:spcAft>
                <a:spcPts val="400"/>
              </a:spcAft>
              <a:defRPr sz="1400"/>
            </a:pPr>
            <a:r>
              <a:t>  • Alpha Vantage API: Macroeconomic indicators</a:t>
            </a:r>
          </a:p>
          <a:p>
            <a:pPr lvl="1">
              <a:spcAft>
                <a:spcPts val="400"/>
              </a:spcAft>
              <a:defRPr sz="1400"/>
            </a:pPr>
            <a:r>
              <a:t>  • Financial Modeling Prep: Earnings transcripts</a:t>
            </a:r>
          </a:p>
          <a:p>
            <a:pPr lvl="1">
              <a:spcAft>
                <a:spcPts val="1000"/>
              </a:spcAft>
              <a:defRPr sz="1400"/>
            </a:pPr>
            <a:r>
              <a:t>  • OpenAI API: Sentiment analysis (optional)</a:t>
            </a:r>
          </a:p>
          <a:p>
            <a:pPr>
              <a:spcAft>
                <a:spcPts val="600"/>
              </a:spcAft>
              <a:defRPr sz="1600" b="1"/>
            </a:pPr>
            <a:r>
              <a:t>Streamlit Cloud Deployment:</a:t>
            </a:r>
          </a:p>
          <a:p>
            <a:pPr lvl="1">
              <a:spcAft>
                <a:spcPts val="400"/>
              </a:spcAft>
              <a:defRPr sz="1400"/>
            </a:pPr>
            <a:r>
              <a:t>  • Web-based user interface</a:t>
            </a:r>
          </a:p>
          <a:p>
            <a:pPr lvl="1">
              <a:spcAft>
                <a:spcPts val="400"/>
              </a:spcAft>
              <a:defRPr sz="1400"/>
            </a:pPr>
            <a:r>
              <a:t>  • Auto-deployment from GitHub</a:t>
            </a:r>
          </a:p>
          <a:p>
            <a:pPr lvl="1">
              <a:defRPr sz="1400"/>
            </a:pPr>
            <a:r>
              <a:t>  • Real-time analysis and visualization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600" b="1"/>
            </a:pPr>
            <a:r>
              <a:t>Performance Advantages:</a:t>
            </a:r>
          </a:p>
          <a:p>
            <a:pPr lvl="1">
              <a:spcAft>
                <a:spcPts val="400"/>
              </a:spcAft>
              <a:defRPr sz="1400"/>
            </a:pPr>
            <a:r>
              <a:t>  • 513% improvement in Sharpe ratio over baseline</a:t>
            </a:r>
          </a:p>
          <a:p>
            <a:pPr lvl="1">
              <a:spcAft>
                <a:spcPts val="400"/>
              </a:spcAft>
              <a:defRPr sz="1400"/>
            </a:pPr>
            <a:r>
              <a:t>  • 335% improvement in CAGR</a:t>
            </a:r>
          </a:p>
          <a:p>
            <a:pPr lvl="1">
              <a:spcAft>
                <a:spcPts val="1000"/>
              </a:spcAft>
              <a:defRPr sz="1400"/>
            </a:pPr>
            <a:r>
              <a:t>  • 61% reduction in maximum drawdown</a:t>
            </a:r>
          </a:p>
          <a:p>
            <a:pPr>
              <a:spcAft>
                <a:spcPts val="600"/>
              </a:spcAft>
              <a:defRPr sz="1600" b="1"/>
            </a:pPr>
            <a:r>
              <a:t>Security &amp; Robustness:</a:t>
            </a:r>
          </a:p>
          <a:p>
            <a:pPr lvl="1">
              <a:spcAft>
                <a:spcPts val="400"/>
              </a:spcAft>
              <a:defRPr sz="1400"/>
            </a:pPr>
            <a:r>
              <a:t>  • 100% resistance to FGSM, PGD, BIM, C&amp;W attacks</a:t>
            </a:r>
          </a:p>
          <a:p>
            <a:pPr lvl="1">
              <a:spcAft>
                <a:spcPts val="1000"/>
              </a:spcAft>
              <a:defRPr sz="1400"/>
            </a:pPr>
            <a:r>
              <a:t>  • Resilient to data corruption and measurement errors</a:t>
            </a:r>
          </a:p>
          <a:p>
            <a:pPr>
              <a:spcAft>
                <a:spcPts val="600"/>
              </a:spcAft>
              <a:defRPr sz="1600" b="1"/>
            </a:pPr>
            <a:r>
              <a:t>Practical Applications:</a:t>
            </a:r>
          </a:p>
          <a:p>
            <a:pPr lvl="1">
              <a:spcAft>
                <a:spcPts val="400"/>
              </a:spcAft>
              <a:defRPr sz="1400"/>
            </a:pPr>
            <a:r>
              <a:t>  • Institutional quantitative trading</a:t>
            </a:r>
          </a:p>
          <a:p>
            <a:pPr lvl="1">
              <a:spcAft>
                <a:spcPts val="400"/>
              </a:spcAft>
              <a:defRPr sz="1400"/>
            </a:pPr>
            <a:r>
              <a:t>  • Automated trading platforms</a:t>
            </a:r>
          </a:p>
          <a:p>
            <a:pPr lvl="1">
              <a:spcAft>
                <a:spcPts val="400"/>
              </a:spcAft>
              <a:defRPr sz="1400"/>
            </a:pPr>
            <a:r>
              <a:t>  • Portfolio optimization systems</a:t>
            </a:r>
          </a:p>
          <a:p>
            <a:pPr lvl="1">
              <a:defRPr sz="1400"/>
            </a:pPr>
            <a:r>
              <a:t>  • Risk management tools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600" b="1"/>
            </a:pPr>
            <a:r>
              <a:t>Achievements:</a:t>
            </a:r>
          </a:p>
          <a:p>
            <a:pPr lvl="1">
              <a:spcAft>
                <a:spcPts val="400"/>
              </a:spcAft>
              <a:defRPr sz="1400"/>
            </a:pPr>
            <a:r>
              <a:t>  ✅ Developed adversarial-robust MHA-DQN framework</a:t>
            </a:r>
          </a:p>
          <a:p>
            <a:pPr lvl="1">
              <a:spcAft>
                <a:spcPts val="400"/>
              </a:spcAft>
              <a:defRPr sz="1400"/>
            </a:pPr>
            <a:r>
              <a:t>  ✅ Demonstrated exceptional performance (78% CAGR, 2.88 Sharpe)</a:t>
            </a:r>
          </a:p>
          <a:p>
            <a:pPr lvl="1">
              <a:spcAft>
                <a:spcPts val="400"/>
              </a:spcAft>
              <a:defRPr sz="1400"/>
            </a:pPr>
            <a:r>
              <a:t>  ✅ Achieved perfect resistance to adversarial attacks</a:t>
            </a:r>
          </a:p>
          <a:p>
            <a:pPr lvl="1">
              <a:spcAft>
                <a:spcPts val="1000"/>
              </a:spcAft>
              <a:defRPr sz="1400"/>
            </a:pPr>
            <a:r>
              <a:t>  ✅ Deployed production-ready system on cloud infrastructure</a:t>
            </a:r>
          </a:p>
          <a:p>
            <a:pPr>
              <a:spcAft>
                <a:spcPts val="600"/>
              </a:spcAft>
              <a:defRPr sz="1600" b="1"/>
            </a:pPr>
            <a:r>
              <a:t>Future Work:</a:t>
            </a:r>
          </a:p>
          <a:p>
            <a:pPr lvl="1">
              <a:spcAft>
                <a:spcPts val="400"/>
              </a:spcAft>
              <a:defRPr sz="1400"/>
            </a:pPr>
            <a:r>
              <a:t>  • Extend to multi-asset portfolio optimization</a:t>
            </a:r>
          </a:p>
          <a:p>
            <a:pPr lvl="1">
              <a:spcAft>
                <a:spcPts val="400"/>
              </a:spcAft>
              <a:defRPr sz="1400"/>
            </a:pPr>
            <a:r>
              <a:t>  • Incorporate additional data sources (alternative data)</a:t>
            </a:r>
          </a:p>
          <a:p>
            <a:pPr lvl="1">
              <a:spcAft>
                <a:spcPts val="400"/>
              </a:spcAft>
              <a:defRPr sz="1400"/>
            </a:pPr>
            <a:r>
              <a:t>  • Real-time adaptive learning from market feedback</a:t>
            </a:r>
          </a:p>
          <a:p>
            <a:pPr lvl="1">
              <a:defRPr sz="1400"/>
            </a:pPr>
            <a:r>
              <a:t>  • Integration with live trading platforms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522A42B6-56D5-6440-86E6-7006FC53B59A}" vid="{CD8EB4FB-6531-A248-888A-0E93811EC0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</TotalTime>
  <Words>186</Words>
  <Application>Microsoft Office PowerPoint</Application>
  <PresentationFormat>Widescreen</PresentationFormat>
  <Paragraphs>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Franklin Gothic Book</vt:lpstr>
      <vt:lpstr>Franklin Gothic Medium</vt:lpstr>
      <vt:lpstr>Office Theme</vt:lpstr>
      <vt:lpstr>Title sub-Title </vt:lpstr>
      <vt:lpstr>2 min to convince the audience </vt:lpstr>
      <vt:lpstr>Context and Introduction</vt:lpstr>
      <vt:lpstr>Problem and Challenges</vt:lpstr>
      <vt:lpstr>Related solutions / State of Art</vt:lpstr>
      <vt:lpstr>Overview of Solution / Contributions</vt:lpstr>
      <vt:lpstr>Data Collecting</vt:lpstr>
      <vt:lpstr>Data Preprocessing</vt:lpstr>
      <vt:lpstr>Methodology </vt:lpstr>
      <vt:lpstr>Models selection and parameters</vt:lpstr>
      <vt:lpstr>Network Training – validation - testing </vt:lpstr>
      <vt:lpstr>Evaluations – Performance – comparing </vt:lpstr>
      <vt:lpstr>Outcomes/finding</vt:lpstr>
      <vt:lpstr>Lessons learned and Perspectives </vt:lpstr>
      <vt:lpstr>Bibliographical References</vt:lpstr>
      <vt:lpstr>Demo !</vt:lpstr>
      <vt:lpstr>Backup slides</vt:lpstr>
      <vt:lpstr>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Youakim BADR</dc:creator>
  <cp:lastModifiedBy>Bensafia, Assia</cp:lastModifiedBy>
  <cp:revision>21</cp:revision>
  <dcterms:created xsi:type="dcterms:W3CDTF">2018-11-27T04:22:11Z</dcterms:created>
  <dcterms:modified xsi:type="dcterms:W3CDTF">2025-03-10T19:39:22Z</dcterms:modified>
</cp:coreProperties>
</file>