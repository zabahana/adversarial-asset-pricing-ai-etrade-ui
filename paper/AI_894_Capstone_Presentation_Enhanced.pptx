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5" r:id="rId2"/>
    <p:sldId id="287" r:id="rId3"/>
    <p:sldId id="295" r:id="rId4"/>
    <p:sldId id="266" r:id="rId5"/>
    <p:sldId id="288" r:id="rId6"/>
    <p:sldId id="286" r:id="rId7"/>
    <p:sldId id="276" r:id="rId8"/>
    <p:sldId id="277" r:id="rId9"/>
    <p:sldId id="285" r:id="rId10"/>
    <p:sldId id="291" r:id="rId11"/>
    <p:sldId id="292" r:id="rId12"/>
    <p:sldId id="293" r:id="rId13"/>
    <p:sldId id="294" r:id="rId14"/>
    <p:sldId id="279" r:id="rId15"/>
    <p:sldId id="280" r:id="rId16"/>
    <p:sldId id="296" r:id="rId17"/>
    <p:sldId id="290" r:id="rId18"/>
    <p:sldId id="289" r:id="rId19"/>
    <p:sldId id="281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9FC3"/>
    <a:srgbClr val="23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80"/>
    <p:restoredTop sz="94666"/>
  </p:normalViewPr>
  <p:slideViewPr>
    <p:cSldViewPr snapToGrid="0" snapToObjects="1">
      <p:cViewPr>
        <p:scale>
          <a:sx n="100" d="100"/>
          <a:sy n="100" d="100"/>
        </p:scale>
        <p:origin x="13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E61490-0E8B-644D-8D6F-07FD60935E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BC33-5051-4F47-9BDC-B6BF899F99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0B59F-B68B-F44C-8E5A-5E36736389EC}" type="datetime1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2F1AE-0268-9D47-9C57-E38840087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B0A12-556D-4040-BD94-D45B66FF4E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D9D23-156F-764B-89C5-48BBF252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3197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F39DE-44BD-9F4B-B4BB-A575182E7BAB}" type="datetime1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0C0C2-B960-6944-9880-3960BE984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5650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20FC6C-C2D0-784B-96BF-963AD9FF95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B35FC4C-0992-9C4F-887E-D7F68C1AA6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690571"/>
            <a:ext cx="9144000" cy="66885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E46AAA0-E2EF-E44A-A6D5-B65457731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1113184"/>
            <a:ext cx="9144000" cy="1507606"/>
          </a:xfrm>
          <a:prstGeom prst="rect">
            <a:avLst/>
          </a:prstGeom>
        </p:spPr>
        <p:txBody>
          <a:bodyPr anchor="b"/>
          <a:lstStyle>
            <a:lvl1pPr>
              <a:defRPr b="0" i="0">
                <a:solidFill>
                  <a:srgbClr val="234078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28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188F5E-23B4-8345-B2A5-105EF759DF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-1"/>
            <a:ext cx="1219200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ACD065-015B-2A4A-91EC-6E198CAAB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 anchor="ctr"/>
          <a:lstStyle>
            <a:lvl1pPr>
              <a:defRPr b="0" i="0">
                <a:solidFill>
                  <a:srgbClr val="7E9FC3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39DD-54B2-D940-A95F-4337D9FDC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391478"/>
            <a:ext cx="10515599" cy="478548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9DC2A-0A86-AC42-B596-6044546DBD64}"/>
              </a:ext>
            </a:extLst>
          </p:cNvPr>
          <p:cNvSpPr txBox="1"/>
          <p:nvPr userDrawn="1"/>
        </p:nvSpPr>
        <p:spPr>
          <a:xfrm>
            <a:off x="11625944" y="638351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CE81201-A5F3-B248-8E6A-3DAD79E0A584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74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17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323278" y="4070194"/>
            <a:ext cx="9144000" cy="668855"/>
          </a:xfrm>
        </p:spPr>
        <p:txBody>
          <a:bodyPr/>
          <a:lstStyle/>
          <a:p>
            <a:r>
              <a:rPr sz="1800" dirty="0"/>
              <a:t>AI 894 Capstone Project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1113184"/>
            <a:ext cx="9144000" cy="2176460"/>
          </a:xfrm>
        </p:spPr>
        <p:txBody>
          <a:bodyPr/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dirty="0"/>
              <a:t>Asset Pricing</a:t>
            </a:r>
            <a:r>
              <a:rPr lang="en-US" dirty="0"/>
              <a:t> Reinforcement Learning Agent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Adversarial-Robust Multi-Head Attention Deep Q-Network (DQN) 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A094D-B0B4-C306-3A2C-7992BA47A1E4}"/>
              </a:ext>
            </a:extLst>
          </p:cNvPr>
          <p:cNvSpPr txBox="1"/>
          <p:nvPr/>
        </p:nvSpPr>
        <p:spPr>
          <a:xfrm>
            <a:off x="1323278" y="4415884"/>
            <a:ext cx="1803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2:</a:t>
            </a:r>
          </a:p>
          <a:p>
            <a:r>
              <a:rPr lang="en-US" dirty="0"/>
              <a:t>Zelalem Abahana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DB74-2E38-A0DD-887C-B1728FA2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66D5-DC14-2CF2-C994-E3E5D874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D241-EBCC-A17C-FBF8-8686A436E1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CHALLENGE: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Franklin Gothic Book" panose="020B0503020102020204" pitchFamily="34" charset="0"/>
              </a:rPr>
              <a:t>Everyone wants to trade stocks (assets) in some way!(?)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latin typeface="Franklin Gothic Book" panose="020B0503020102020204" pitchFamily="34" charset="0"/>
              </a:rPr>
              <a:t>Markets generate massive, multi-source data in real time.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latin typeface="Franklin Gothic Book" panose="020B0503020102020204" pitchFamily="34" charset="0"/>
              </a:rPr>
              <a:t>Human traders can't process 43+ features across 8 categories simultaneously.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latin typeface="Franklin Gothic Book" panose="020B0503020102020204" pitchFamily="34" charset="0"/>
              </a:rPr>
              <a:t>Traditional models break under adversarial conditions and data corruption.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>
                <a:latin typeface="Franklin Gothic Book" panose="020B0503020102020204" pitchFamily="34" charset="0"/>
              </a:rPr>
              <a:t>Sequential decisions require long-term optimization, not single-step predictions.</a:t>
            </a:r>
          </a:p>
          <a:p>
            <a:pPr>
              <a:buFont typeface="Wingdings" pitchFamily="2" charset="2"/>
              <a:buChar char="v"/>
            </a:pPr>
            <a:endParaRPr lang="en-US" sz="1600" dirty="0"/>
          </a:p>
          <a:p>
            <a:pPr marL="0" indent="0">
              <a:buNone/>
            </a:pPr>
            <a:r>
              <a:rPr lang="en-US" b="1" dirty="0"/>
              <a:t>WHAT IF an AI Agent: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could autonomously integrate all this information?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learned from experience and adapted to market changes?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i="1" dirty="0">
                <a:solidFill>
                  <a:srgbClr val="7030A0"/>
                </a:solidFill>
                <a:latin typeface="Franklin Gothic Book" panose="020B0503020102020204" pitchFamily="34" charset="0"/>
              </a:rPr>
              <a:t>remained robust even when attacked or fed corrupted data?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achieved ~</a:t>
            </a:r>
            <a:r>
              <a:rPr lang="en-US" sz="2000" b="1" dirty="0">
                <a:latin typeface="Franklin Gothic Book" panose="020B0503020102020204" pitchFamily="34" charset="0"/>
              </a:rPr>
              <a:t>70% annual returns</a:t>
            </a:r>
            <a:r>
              <a:rPr lang="en-US" sz="2000" dirty="0">
                <a:latin typeface="Franklin Gothic Book" panose="020B0503020102020204" pitchFamily="34" charset="0"/>
              </a:rPr>
              <a:t> with a </a:t>
            </a:r>
            <a:r>
              <a:rPr lang="en-US" sz="2000" b="1" dirty="0">
                <a:latin typeface="Franklin Gothic Book" panose="020B0503020102020204" pitchFamily="34" charset="0"/>
              </a:rPr>
              <a:t>2.88 Sharpe ratio</a:t>
            </a:r>
            <a:r>
              <a:rPr lang="en-US" sz="2000" dirty="0">
                <a:latin typeface="Franklin Gothic Book" panose="020B05030201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0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9F88-F2AD-D71D-E533-9C8BFB5B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1.2 Related Solutions / State of the Art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AD81-CB04-F80F-8BBA-CFF0D714C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31900"/>
            <a:ext cx="6146800" cy="4945063"/>
          </a:xfrm>
        </p:spPr>
        <p:txBody>
          <a:bodyPr/>
          <a:lstStyle/>
          <a:p>
            <a:r>
              <a:rPr lang="en-US" sz="1600" b="1" dirty="0"/>
              <a:t>Statistical Models</a:t>
            </a:r>
            <a:r>
              <a:rPr lang="en-US" sz="1600" dirty="0"/>
              <a:t>: ARIMA, GARCH for time series forecasting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Linear assumptions, can't capture complex patterns</a:t>
            </a:r>
          </a:p>
          <a:p>
            <a:r>
              <a:rPr lang="en-US" sz="1600" b="1" dirty="0"/>
              <a:t>Machine Learning</a:t>
            </a:r>
            <a:r>
              <a:rPr lang="en-US" sz="16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Supervised learning, no sequential decision optimization</a:t>
            </a:r>
          </a:p>
          <a:p>
            <a:r>
              <a:rPr lang="en-US" sz="1600" b="1" dirty="0"/>
              <a:t>Basic RL</a:t>
            </a:r>
            <a:r>
              <a:rPr lang="en-US" sz="16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Single-head attention, struggles with feature interactions</a:t>
            </a:r>
          </a:p>
          <a:p>
            <a:r>
              <a:rPr lang="en-US" sz="1600" b="1" dirty="0"/>
              <a:t>Deep Reinforcement Learning</a:t>
            </a:r>
            <a:r>
              <a:rPr lang="en-US" sz="16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Limited feature interaction modeling, no adversarial robustness</a:t>
            </a:r>
          </a:p>
          <a:p>
            <a:r>
              <a:rPr lang="en-US" sz="1600" b="1" dirty="0"/>
              <a:t>Transformer-based Trading</a:t>
            </a:r>
            <a:r>
              <a:rPr lang="en-US" sz="16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Not integrated with RL, no robustness guarantees</a:t>
            </a:r>
          </a:p>
          <a:p>
            <a:r>
              <a:rPr lang="en-US" sz="1600" b="1" dirty="0"/>
              <a:t>Adversarial ML</a:t>
            </a:r>
            <a:r>
              <a:rPr lang="en-US" sz="16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Gap: Rarely applied to financial AI, often sacrifices performance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5811E-E969-1B14-7B21-E6C4C66BA65F}"/>
              </a:ext>
            </a:extLst>
          </p:cNvPr>
          <p:cNvSpPr txBox="1"/>
          <p:nvPr/>
        </p:nvSpPr>
        <p:spPr>
          <a:xfrm>
            <a:off x="7493000" y="1391478"/>
            <a:ext cx="45212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Potential Improvements: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Integration of multi-head attention with deep Q-learning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Adversarial robustness specifically designed for financial markets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Agentic AI systems that autonomously process multi-source data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Systems that maintain high performance while being attack-resistant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23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D1B7-22A9-C448-B46E-84F4E21D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 Why Agentic AI for Asset Pricing?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4FDC-F4FE-CF46-93B1-7A71687BB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38062"/>
            <a:ext cx="9127603" cy="458395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 Multi-head Attention Deep Q-network (MHA-DQN) learning agent can address:</a:t>
            </a:r>
          </a:p>
          <a:p>
            <a:pPr marL="0" indent="0">
              <a:buNone/>
            </a:pPr>
            <a:endParaRPr lang="en-US" sz="2000" b="1" dirty="0"/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Autonomous decision-making under uncertainty</a:t>
            </a:r>
          </a:p>
          <a:p>
            <a:pPr lvl="1">
              <a:buFont typeface="Wingdings" pitchFamily="2" charset="2"/>
              <a:buChar char="ü"/>
            </a:pPr>
            <a:endParaRPr lang="en-US" sz="2000" dirty="0">
              <a:latin typeface="Franklin Gothic Book" panose="020B0503020102020204" pitchFamily="34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Multi-source information integration</a:t>
            </a:r>
          </a:p>
          <a:p>
            <a:pPr lvl="1">
              <a:buFont typeface="Wingdings" pitchFamily="2" charset="2"/>
              <a:buChar char="ü"/>
            </a:pPr>
            <a:endParaRPr lang="en-US" sz="2000" dirty="0">
              <a:latin typeface="Franklin Gothic Book" panose="020B0503020102020204" pitchFamily="34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Sequential decision optimization </a:t>
            </a:r>
          </a:p>
          <a:p>
            <a:pPr lvl="1">
              <a:buFont typeface="Wingdings" pitchFamily="2" charset="2"/>
              <a:buChar char="ü"/>
            </a:pPr>
            <a:endParaRPr lang="en-US" sz="2000" dirty="0">
              <a:latin typeface="Franklin Gothic Book" panose="020B0503020102020204" pitchFamily="34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Robustness to adversarial conditions</a:t>
            </a:r>
          </a:p>
          <a:p>
            <a:pPr lvl="1">
              <a:buFont typeface="Wingdings" pitchFamily="2" charset="2"/>
              <a:buChar char="ü"/>
            </a:pPr>
            <a:endParaRPr lang="en-US" sz="2000" dirty="0">
              <a:latin typeface="Franklin Gothic Book" panose="020B0503020102020204" pitchFamily="34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Continuous learning and adaptation</a:t>
            </a:r>
          </a:p>
          <a:p>
            <a:pPr lvl="1">
              <a:buFont typeface="Wingdings" pitchFamily="2" charset="2"/>
              <a:buChar char="ü"/>
            </a:pPr>
            <a:endParaRPr lang="en-US" sz="2000" dirty="0">
              <a:latin typeface="Franklin Gothic Book" panose="020B0503020102020204" pitchFamily="34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Franklin Gothic Book" panose="020B0503020102020204" pitchFamily="34" charset="0"/>
              </a:rPr>
              <a:t>Collaborative integration</a:t>
            </a:r>
          </a:p>
        </p:txBody>
      </p:sp>
    </p:spTree>
    <p:extLst>
      <p:ext uri="{BB962C8B-B14F-4D97-AF65-F5344CB8AC3E}">
        <p14:creationId xmlns:p14="http://schemas.microsoft.com/office/powerpoint/2010/main" val="383555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8A848-F51B-6E0F-F3D9-176C5E8B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39B4-632E-A984-253E-8302F64B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Data Sourcing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D593-B464-7BE5-2D17-61C1277AC1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600" b="1" dirty="0"/>
              <a:t>Alpha Vantage API</a:t>
            </a:r>
          </a:p>
          <a:p>
            <a:pPr marL="0" indent="0">
              <a:buNone/>
            </a:pPr>
            <a:endParaRPr lang="en-US" sz="1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Stock prices, macro indicators, commodities, market indices, forex, crypto</a:t>
            </a:r>
          </a:p>
          <a:p>
            <a:pPr marL="457200" lvl="1" indent="0">
              <a:buNone/>
            </a:pPr>
            <a:endParaRPr lang="en-US" sz="1600" dirty="0">
              <a:latin typeface="Franklin Gothic Book" panose="020B0503020102020204" pitchFamily="34" charset="0"/>
            </a:endParaRPr>
          </a:p>
          <a:p>
            <a:pPr marL="342900" indent="-342900">
              <a:buAutoNum type="arabicPeriod" startAt="2"/>
            </a:pPr>
            <a:r>
              <a:rPr lang="en-US" sz="1600" b="1" dirty="0"/>
              <a:t>Financial Modeling Prep (FMP) API</a:t>
            </a:r>
          </a:p>
          <a:p>
            <a:pPr marL="0" indent="0">
              <a:buNone/>
            </a:pPr>
            <a:endParaRPr lang="en-US" sz="1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Earnings data, transcripts, financial statements</a:t>
            </a:r>
          </a:p>
          <a:p>
            <a:pPr marL="457200" lvl="1" indent="0">
              <a:buNone/>
            </a:pPr>
            <a:endParaRPr lang="en-US" sz="1600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r>
              <a:rPr lang="en-US" sz="1600" b="1" dirty="0"/>
              <a:t>3.   Internal Computation</a:t>
            </a:r>
          </a:p>
          <a:p>
            <a:pPr marL="0" indent="0">
              <a:buNone/>
            </a:pPr>
            <a:endParaRPr lang="en-US" sz="1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Technical indicators, feature engineering</a:t>
            </a:r>
          </a:p>
          <a:p>
            <a:pPr marL="457200" lvl="1" indent="0">
              <a:buNone/>
            </a:pPr>
            <a:endParaRPr lang="en-US" sz="1600" dirty="0">
              <a:latin typeface="Franklin Gothic Book" panose="020B0503020102020204" pitchFamily="34" charset="0"/>
            </a:endParaRPr>
          </a:p>
          <a:p>
            <a:pPr marL="342900" indent="-342900">
              <a:buAutoNum type="arabicPeriod" startAt="4"/>
            </a:pPr>
            <a:r>
              <a:rPr lang="en-US" sz="1600" b="1" dirty="0"/>
              <a:t>OpenAI GPT API</a:t>
            </a:r>
            <a:r>
              <a:rPr lang="en-US" sz="1600" dirty="0"/>
              <a:t> (AI Agent)</a:t>
            </a:r>
          </a:p>
          <a:p>
            <a:pPr marL="0" indent="0">
              <a:buNone/>
            </a:pPr>
            <a:endParaRPr lang="en-US" sz="1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Earnings transcript analysis, sentiment scoring, SEC report summary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8720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D16C-DB01-5B22-819B-EFBF5BF8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C6B5C-4DFB-0513-CBDD-EFDD8D23F858}"/>
              </a:ext>
            </a:extLst>
          </p:cNvPr>
          <p:cNvSpPr txBox="1"/>
          <p:nvPr/>
        </p:nvSpPr>
        <p:spPr>
          <a:xfrm>
            <a:off x="457200" y="274320"/>
            <a:ext cx="1041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3200" b="1">
                <a:solidFill>
                  <a:srgbClr val="003366"/>
                </a:solidFill>
              </a:defRPr>
            </a:pPr>
            <a:r>
              <a:rPr lang="en-US" sz="4000" dirty="0">
                <a:solidFill>
                  <a:srgbClr val="7E9FC3"/>
                </a:solidFill>
                <a:latin typeface="Franklin Gothic Medium" panose="020B0603020102020204" pitchFamily="34" charset="0"/>
                <a:ea typeface="+mj-ea"/>
                <a:cs typeface="+mj-cs"/>
              </a:rPr>
              <a:t>2.2 </a:t>
            </a:r>
            <a:r>
              <a:rPr sz="4000" dirty="0">
                <a:solidFill>
                  <a:srgbClr val="7E9FC3"/>
                </a:solidFill>
                <a:latin typeface="Franklin Gothic Medium" panose="020B0603020102020204" pitchFamily="34" charset="0"/>
                <a:ea typeface="+mj-ea"/>
                <a:cs typeface="+mj-cs"/>
              </a:rPr>
              <a:t>System Architecture: Multi-Head Attention DQN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B0DD1BC-BDE9-DC84-B11B-C8A478FD3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977900"/>
            <a:ext cx="4313176" cy="567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27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0604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n-US" sz="4400" b="1" dirty="0">
                <a:solidFill>
                  <a:srgbClr val="7E9FC3"/>
                </a:solidFill>
                <a:latin typeface="Franklin Gothic Medium" panose="020B0603020102020204" pitchFamily="34" charset="0"/>
                <a:ea typeface="+mj-ea"/>
                <a:cs typeface="+mj-cs"/>
              </a:rPr>
              <a:t>2.3</a:t>
            </a:r>
            <a:r>
              <a:rPr lang="en-US" sz="4400" dirty="0">
                <a:latin typeface="Franklin Gothic Medium" panose="020B0603020102020204" pitchFamily="34" charset="0"/>
              </a:rPr>
              <a:t> </a:t>
            </a:r>
            <a:r>
              <a:rPr lang="en-US" sz="4400" b="1" dirty="0">
                <a:solidFill>
                  <a:srgbClr val="7E9FC3"/>
                </a:solidFill>
                <a:latin typeface="Franklin Gothic Medium" panose="020B0603020102020204" pitchFamily="34" charset="0"/>
                <a:ea typeface="+mj-ea"/>
                <a:cs typeface="+mj-cs"/>
              </a:rPr>
              <a:t>Input Feature Groups</a:t>
            </a:r>
            <a:endParaRPr sz="4400" b="1" dirty="0">
              <a:solidFill>
                <a:srgbClr val="7E9FC3"/>
              </a:solidFill>
              <a:latin typeface="Franklin Gothic Medium" panose="020B0603020102020204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6011E-0FD9-D529-CB89-1A3044F7E046}"/>
              </a:ext>
            </a:extLst>
          </p:cNvPr>
          <p:cNvSpPr txBox="1"/>
          <p:nvPr/>
        </p:nvSpPr>
        <p:spPr>
          <a:xfrm>
            <a:off x="203201" y="1095607"/>
            <a:ext cx="513823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📈 Price &amp; Returns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Capture short-term and long-term price dynamics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Volatility provides regime-shift sensitivity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Moving averages (sma20/sma50) detect trend shifts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RSI gauges momentum and overbought/oversold conditions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Log returns normalize price movements</a:t>
            </a:r>
          </a:p>
          <a:p>
            <a:endParaRPr lang="en-US" sz="1400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🏛️ Macroeconomic Indicators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GDP, unemployment → reflect growth cycles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Fed funds rate → signals monetary tightening/loosening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10Y–2Y yield spread → recession predictor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M2 money supply → liquidity regime indicator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🛢️ Commodities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Oil, gold, silver → inflation hedge signals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Natural gas, copper → industrial demand indicators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Provide macro-sensitive features independent of equities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1F7D9-344F-9B02-1A2E-F372C6D2A136}"/>
              </a:ext>
            </a:extLst>
          </p:cNvPr>
          <p:cNvSpPr txBox="1"/>
          <p:nvPr/>
        </p:nvSpPr>
        <p:spPr>
          <a:xfrm>
            <a:off x="5341435" y="828550"/>
            <a:ext cx="611830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💱 Forex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EUR/USD, GBP/USD, JPY/USD → reflect global capital flows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FX strength/weakness impacts multinational earnings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Serves as a proxy for global macro regime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📐 Technical Indicators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MACD + signal → trend acceleration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Bollinger bands → volatility expansion/contraction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Capture pure price-pattern information independent of fundamentals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₿ Crypto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BTC, ETH, XRP → high-volatility risk sentiment indicators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Often lead equity volatility in risk-on/risk-off transitions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📰 Earnings / Sentiment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Earnings surprise → fundamental mispricing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Days since earnings → decaying influence of events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Sentiment score → NLP-derived future-movement predictor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400" dirty="0">
              <a:latin typeface="Franklin Gothic Book" panose="020B0503020102020204" pitchFamily="34" charset="0"/>
            </a:endParaRPr>
          </a:p>
          <a:p>
            <a:pPr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📊 Market Indices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SPY, QQQ → broad US equity benchmarks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VIX → real-time measure of market risk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Franklin Gothic Book" panose="020B0503020102020204" pitchFamily="34" charset="0"/>
              </a:rPr>
              <a:t>Sector ETFs (XLK, XLF, XLE) → rotation signals across industries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</a:t>
            </a:r>
            <a:r>
              <a:rPr dirty="0"/>
              <a:t>Deep Q-Network (DQN) Formulation</a:t>
            </a:r>
            <a:r>
              <a:rPr lang="en-US" dirty="0"/>
              <a:t> (1)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391478"/>
            <a:ext cx="10515599" cy="4785485"/>
          </a:xfrm>
        </p:spPr>
        <p:txBody>
          <a:bodyPr wrap="square"/>
          <a:lstStyle/>
          <a:p>
            <a:pPr>
              <a:spcAft>
                <a:spcPts val="800"/>
              </a:spcAft>
              <a:defRPr sz="1800" b="1"/>
            </a:pPr>
            <a:r>
              <a:rPr dirty="0"/>
              <a:t>Markov Decision Process (MDP) Framework:</a:t>
            </a:r>
          </a:p>
          <a:p>
            <a:pPr marL="0" indent="0">
              <a:spcAft>
                <a:spcPts val="400"/>
              </a:spcAft>
              <a:buNone/>
              <a:defRPr sz="1600">
                <a:latin typeface="Courier New"/>
              </a:defRPr>
            </a:pPr>
            <a:r>
              <a:rPr lang="en-US" b="1" dirty="0"/>
              <a:t>	</a:t>
            </a:r>
            <a:r>
              <a:rPr b="1" dirty="0"/>
              <a:t>MDP = (S, A, P, R, </a:t>
            </a:r>
            <a:r>
              <a:rPr b="1" dirty="0" err="1"/>
              <a:t>γ</a:t>
            </a:r>
            <a:r>
              <a:rPr b="1" dirty="0"/>
              <a:t>) </a:t>
            </a:r>
            <a:endParaRPr lang="en-US" b="1" dirty="0"/>
          </a:p>
          <a:p>
            <a:pPr lvl="1">
              <a:spcAft>
                <a:spcPts val="400"/>
              </a:spcAft>
              <a:buFont typeface="Courier New" panose="02070309020205020404" pitchFamily="49" charset="0"/>
              <a:buChar char="o"/>
              <a:defRPr sz="1600">
                <a:latin typeface="Courier New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S: State space (43 features × 20 time steps)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400"/>
              </a:spcAft>
              <a:buFont typeface="Courier New" panose="02070309020205020404" pitchFamily="49" charset="0"/>
              <a:buChar char="o"/>
              <a:defRPr sz="1600">
                <a:latin typeface="Courier New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A: Action space {BUY, HOLD, SELL}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400"/>
              </a:spcAft>
              <a:buFont typeface="Courier New" panose="02070309020205020404" pitchFamily="49" charset="0"/>
              <a:buChar char="o"/>
              <a:defRPr sz="1600">
                <a:latin typeface="Courier New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P: Transition probability P(s'|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s,a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400"/>
              </a:spcAft>
              <a:buFont typeface="Courier New" panose="02070309020205020404" pitchFamily="49" charset="0"/>
              <a:buChar char="o"/>
              <a:defRPr sz="1600">
                <a:latin typeface="Courier New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R: Reward function (portfolio return)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400"/>
              </a:spcAft>
              <a:buFont typeface="Courier New" panose="02070309020205020404" pitchFamily="49" charset="0"/>
              <a:buChar char="o"/>
              <a:defRPr sz="1600">
                <a:latin typeface="Courier New"/>
              </a:defRPr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γ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= 0.99: Discount factor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400"/>
              </a:spcAft>
              <a:buFont typeface="Courier New" panose="02070309020205020404" pitchFamily="49" charset="0"/>
              <a:buChar char="o"/>
              <a:defRPr sz="1600">
                <a:latin typeface="Courier New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  <a:defRPr sz="1800" b="1"/>
            </a:pPr>
            <a:r>
              <a:rPr dirty="0"/>
              <a:t>Objective Function:</a:t>
            </a:r>
          </a:p>
          <a:p>
            <a:pPr>
              <a:spcAft>
                <a:spcPts val="600"/>
              </a:spcAft>
              <a:defRPr sz="1800" b="1"/>
            </a:pPr>
            <a:endParaRPr lang="en-US"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Q-Function (Action-Value Function):</a:t>
            </a:r>
            <a:endParaRPr lang="en-US" dirty="0"/>
          </a:p>
          <a:p>
            <a:pPr>
              <a:spcAft>
                <a:spcPts val="600"/>
              </a:spcAft>
              <a:defRPr sz="1800" b="1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A8AC6-1849-EFAC-5E42-A001FA79D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933" y="4277389"/>
            <a:ext cx="2489644" cy="668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6DF23-3A97-2EDB-A5B0-85981B806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188" y="5587516"/>
            <a:ext cx="4363188" cy="9318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087A-09C8-6166-BEAF-BC1A36DF0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3FBA-4E3A-D26B-BB26-E07B46BE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</a:t>
            </a:r>
            <a:r>
              <a:rPr dirty="0"/>
              <a:t>Deep Q-Network (DQN) Formulation</a:t>
            </a:r>
            <a:r>
              <a:rPr lang="en-US" dirty="0"/>
              <a:t> (2)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39DCB-D660-6551-2A95-FFCAB39D4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908313"/>
            <a:ext cx="10515599" cy="4268650"/>
          </a:xfrm>
        </p:spPr>
        <p:txBody>
          <a:bodyPr wrap="square"/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Bellman Optimality Equation:</a:t>
            </a:r>
          </a:p>
          <a:p>
            <a:pPr marL="0" indent="0" algn="ctr">
              <a:spcAft>
                <a:spcPts val="1000"/>
              </a:spcAft>
              <a:buNone/>
              <a:defRPr sz="1600">
                <a:latin typeface="Courier New"/>
              </a:defRPr>
            </a:pPr>
            <a:endParaRPr b="1" i="1"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Q-Learning Update Rule:</a:t>
            </a:r>
          </a:p>
          <a:p>
            <a:pPr marL="0" indent="0" algn="ctr">
              <a:spcAft>
                <a:spcPts val="1000"/>
              </a:spcAft>
              <a:buNone/>
              <a:defRPr sz="1600">
                <a:latin typeface="Courier New"/>
              </a:defRPr>
            </a:pPr>
            <a:endParaRPr b="1" dirty="0"/>
          </a:p>
          <a:p>
            <a:pPr>
              <a:spcAft>
                <a:spcPts val="600"/>
              </a:spcAft>
              <a:defRPr sz="1800" b="1"/>
            </a:pPr>
            <a:endParaRPr lang="en-US"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Loss Function (MSE):</a:t>
            </a:r>
            <a:endParaRPr lang="en-US" dirty="0"/>
          </a:p>
          <a:p>
            <a:pPr marL="0" indent="0">
              <a:spcAft>
                <a:spcPts val="600"/>
              </a:spcAft>
              <a:buNone/>
              <a:defRPr sz="1800" b="1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D9041-4650-E763-4F30-F5317433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196" y="2155925"/>
            <a:ext cx="5689600" cy="596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94A85E-E9E1-4A0D-7948-72426F2F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098" y="3228311"/>
            <a:ext cx="7035800" cy="622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7BC66D-6936-1F1A-3E76-60FC042F4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877" y="4326097"/>
            <a:ext cx="4597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1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865D7-A2DE-DCF4-3888-85B1E525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CC15-E53C-4E1C-A940-D3A3F788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Self-Attention Mechanism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B8289B-2677-31A8-822A-DFCEAAF1C2A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Given an input sequence </a:t>
                </a:r>
                <a14:m>
                  <m:oMath xmlns:m="http://schemas.openxmlformats.org/officeDocument/2006/math">
                    <m:r>
                      <a:rPr lang="en-US" sz="1600" i="1"/>
                      <m:t>𝑋</m:t>
                    </m:r>
                    <m:r>
                      <a:rPr lang="en-US" sz="1600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600" i="1"/>
                        </m:ctrlPr>
                      </m:dPr>
                      <m:e>
                        <m:sSub>
                          <m:sSubPr>
                            <m:ctrlPr>
                              <a:rPr lang="ar-AE" sz="1600" i="1"/>
                            </m:ctrlPr>
                          </m:sSubPr>
                          <m:e>
                            <m:r>
                              <a:rPr lang="ar-AE" sz="1600" i="1"/>
                              <m:t>𝑥</m:t>
                            </m:r>
                          </m:e>
                          <m:sub>
                            <m:r>
                              <a:rPr lang="ar-AE" sz="1600"/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 sz="1600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1600" i="1"/>
                            </m:ctrlPr>
                          </m:sSubPr>
                          <m:e>
                            <m:r>
                              <a:rPr lang="ar-AE" sz="1600" i="1"/>
                              <m:t>𝑥</m:t>
                            </m:r>
                          </m:e>
                          <m:sub>
                            <m:r>
                              <a:rPr lang="ar-AE" sz="1600" i="1"/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600" dirty="0"/>
                  <a:t>, </a:t>
                </a:r>
                <a:r>
                  <a:rPr lang="en-US" sz="1600" dirty="0"/>
                  <a:t>we compute </a:t>
                </a:r>
                <a:r>
                  <a:rPr lang="en-US" sz="1600" b="1" dirty="0"/>
                  <a:t>queries</a:t>
                </a:r>
                <a:r>
                  <a:rPr lang="en-US" sz="1600" dirty="0"/>
                  <a:t>, </a:t>
                </a:r>
                <a:r>
                  <a:rPr lang="en-US" sz="1600" b="1" dirty="0"/>
                  <a:t>keys</a:t>
                </a:r>
                <a:r>
                  <a:rPr lang="en-US" sz="1600" dirty="0"/>
                  <a:t>, and </a:t>
                </a:r>
                <a:r>
                  <a:rPr lang="en-US" sz="1600" b="1" dirty="0"/>
                  <a:t>values</a:t>
                </a:r>
                <a:r>
                  <a:rPr lang="en-US" sz="1600" dirty="0"/>
                  <a:t>:</a:t>
                </a:r>
              </a:p>
              <a:p>
                <a:pPr marL="0" indent="0">
                  <a:buNone/>
                </a:pPr>
                <a:endParaRPr lang="en-US" sz="16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/>
                        <m:t>𝑄</m:t>
                      </m:r>
                      <m:r>
                        <a:rPr lang="en-US" sz="1200"/>
                        <m:t>=</m:t>
                      </m:r>
                      <m:r>
                        <a:rPr lang="en-US" sz="1200" i="1"/>
                        <m:t>𝑋</m:t>
                      </m:r>
                      <m:sSub>
                        <m:sSubPr>
                          <m:ctrlPr>
                            <a:rPr lang="ar-AE" sz="1200" i="1"/>
                          </m:ctrlPr>
                        </m:sSubPr>
                        <m:e>
                          <m:r>
                            <a:rPr lang="ar-AE" sz="1200" i="1"/>
                            <m:t>𝑊</m:t>
                          </m:r>
                        </m:e>
                        <m:sub>
                          <m:r>
                            <a:rPr lang="ar-AE" sz="1200" i="1"/>
                            <m:t>𝑄</m:t>
                          </m:r>
                        </m:sub>
                      </m:sSub>
                      <m:r>
                        <a:rPr lang="ar-AE" sz="1200"/>
                        <m:t>, </m:t>
                      </m:r>
                      <m:r>
                        <a:rPr lang="ar-AE" sz="1200" i="1"/>
                        <m:t>𝐾</m:t>
                      </m:r>
                      <m:r>
                        <a:rPr lang="ar-AE" sz="1200"/>
                        <m:t>=</m:t>
                      </m:r>
                      <m:r>
                        <a:rPr lang="ar-AE" sz="1200" i="1"/>
                        <m:t>𝑋</m:t>
                      </m:r>
                      <m:sSub>
                        <m:sSubPr>
                          <m:ctrlPr>
                            <a:rPr lang="ar-AE" sz="1200" i="1"/>
                          </m:ctrlPr>
                        </m:sSubPr>
                        <m:e>
                          <m:r>
                            <a:rPr lang="ar-AE" sz="1200" i="1"/>
                            <m:t>𝑊</m:t>
                          </m:r>
                        </m:e>
                        <m:sub>
                          <m:r>
                            <a:rPr lang="ar-AE" sz="1200" i="1"/>
                            <m:t>𝐾</m:t>
                          </m:r>
                        </m:sub>
                      </m:sSub>
                      <m:r>
                        <a:rPr lang="ar-AE" sz="1200"/>
                        <m:t>, </m:t>
                      </m:r>
                      <m:r>
                        <a:rPr lang="ar-AE" sz="1200" i="1"/>
                        <m:t>𝑉</m:t>
                      </m:r>
                      <m:r>
                        <a:rPr lang="ar-AE" sz="1200"/>
                        <m:t>=</m:t>
                      </m:r>
                      <m:r>
                        <a:rPr lang="ar-AE" sz="1200" i="1"/>
                        <m:t>𝑋</m:t>
                      </m:r>
                      <m:sSub>
                        <m:sSubPr>
                          <m:ctrlPr>
                            <a:rPr lang="ar-AE" sz="1200" i="1"/>
                          </m:ctrlPr>
                        </m:sSubPr>
                        <m:e>
                          <m:r>
                            <a:rPr lang="ar-AE" sz="1200" i="1"/>
                            <m:t>𝑊</m:t>
                          </m:r>
                        </m:e>
                        <m:sub>
                          <m:r>
                            <a:rPr lang="ar-AE" sz="1200" i="1"/>
                            <m:t>𝑉</m:t>
                          </m:r>
                        </m:sub>
                      </m:sSub>
                      <m:r>
                        <a:rPr lang="ar-AE" sz="1200"/>
                        <m:t>,</m:t>
                      </m:r>
                    </m:oMath>
                  </m:oMathPara>
                </a14:m>
                <a:endParaRPr lang="ar-AE" sz="1200" dirty="0">
                  <a:latin typeface="Franklin Gothic Book" panose="020B0503020102020204" pitchFamily="34" charset="0"/>
                </a:endParaRPr>
              </a:p>
              <a:p>
                <a:pPr marL="457200" lvl="1" indent="0">
                  <a:buNone/>
                </a:pPr>
                <a:r>
                  <a:rPr lang="en-US" sz="1200" dirty="0">
                    <a:latin typeface="Franklin Gothic Book" panose="020B05030201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𝑊</m:t>
                        </m:r>
                      </m:e>
                      <m:sub>
                        <m:r>
                          <a:rPr lang="ar-AE" sz="1200" i="1"/>
                          <m:t>𝑄</m:t>
                        </m:r>
                      </m:sub>
                    </m:sSub>
                    <m:r>
                      <a:rPr lang="ar-AE" sz="1200"/>
                      <m:t>,</m:t>
                    </m:r>
                    <m:sSub>
                      <m:sSubPr>
                        <m:ctrlPr>
                          <a:rPr lang="ar-AE" sz="1200" i="1"/>
                        </m:ctrlPr>
                      </m:sSubPr>
                      <m:e>
                        <m:r>
                          <a:rPr lang="ar-AE" sz="1200" i="1"/>
                          <m:t>𝑊</m:t>
                        </m:r>
                      </m:e>
                      <m:sub>
                        <m:r>
                          <a:rPr lang="ar-AE" sz="1200" i="1"/>
                          <m:t>𝐾</m:t>
                        </m:r>
                      </m:sub>
                    </m:sSub>
                    <m:r>
                      <a:rPr lang="ar-AE" sz="1200"/>
                      <m:t>,</m:t>
                    </m:r>
                    <m:sSub>
                      <m:sSubPr>
                        <m:ctrlPr>
                          <a:rPr lang="ar-AE" sz="1200" i="1"/>
                        </m:ctrlPr>
                      </m:sSubPr>
                      <m:e>
                        <m:r>
                          <a:rPr lang="ar-AE" sz="1200" i="1"/>
                          <m:t>𝑊</m:t>
                        </m:r>
                      </m:e>
                      <m:sub>
                        <m:r>
                          <a:rPr lang="ar-AE" sz="1200" i="1"/>
                          <m:t>𝑉</m:t>
                        </m:r>
                      </m:sub>
                    </m:sSub>
                  </m:oMath>
                </a14:m>
                <a:r>
                  <a:rPr lang="en-US" sz="1200" dirty="0">
                    <a:latin typeface="Franklin Gothic Book" panose="020B0503020102020204" pitchFamily="34" charset="0"/>
                  </a:rPr>
                  <a:t>are learned projection matrices.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/>
                  <a:t>Attention Computation: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/>
                        <m:t>Attention</m:t>
                      </m:r>
                      <m:d>
                        <m:dPr>
                          <m:sepChr m:val=","/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𝑄</m:t>
                          </m:r>
                        </m:e>
                        <m:e>
                          <m:r>
                            <a:rPr lang="ar-AE" sz="1600" i="1"/>
                            <m:t>𝐾</m:t>
                          </m:r>
                        </m:e>
                        <m:e>
                          <m:r>
                            <a:rPr lang="ar-AE" sz="1600" i="1"/>
                            <m:t>𝑉</m:t>
                          </m:r>
                        </m:e>
                      </m:d>
                      <m:r>
                        <a:rPr lang="ar-AE" sz="1600"/>
                        <m:t>=</m:t>
                      </m:r>
                      <m:r>
                        <m:rPr>
                          <m:nor/>
                        </m:rPr>
                        <a:rPr lang="en-US" sz="1600" i="1"/>
                        <m:t>softmax</m:t>
                      </m:r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f>
                            <m:fPr>
                              <m:ctrlPr>
                                <a:rPr lang="ar-AE" sz="1600" i="1"/>
                              </m:ctrlPr>
                            </m:fPr>
                            <m:num>
                              <m:r>
                                <a:rPr lang="ar-AE" sz="1600" i="1"/>
                                <m:t>𝑄</m:t>
                              </m:r>
                              <m:sSup>
                                <m:sSupPr>
                                  <m:ctrlPr>
                                    <a:rPr lang="ar-AE" sz="1600" i="1"/>
                                  </m:ctrlPr>
                                </m:sSupPr>
                                <m:e>
                                  <m:r>
                                    <a:rPr lang="ar-AE" sz="1600" i="1"/>
                                    <m:t>𝐾</m:t>
                                  </m:r>
                                </m:e>
                                <m:sup>
                                  <m:r>
                                    <a:rPr lang="ar-AE" sz="1600"/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sz="1600" i="1"/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sz="1600" i="1"/>
                                      </m:ctrlPr>
                                    </m:sSubPr>
                                    <m:e>
                                      <m:r>
                                        <a:rPr lang="ar-AE" sz="1600" i="1"/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ar-AE" sz="1600" i="1"/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ar-AE" sz="1600" i="1"/>
                        <m:t>𝑉</m:t>
                      </m:r>
                    </m:oMath>
                  </m:oMathPara>
                </a14:m>
                <a:endParaRPr lang="ar-AE" sz="1600" dirty="0"/>
              </a:p>
              <a:p>
                <a:pPr marL="0" indent="0">
                  <a:buNone/>
                </a:pPr>
                <a:r>
                  <a:rPr lang="en-US" sz="1600" b="1" dirty="0"/>
                  <a:t>Our Framework: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lvl="1"/>
                <a:r>
                  <a:rPr lang="en-US" sz="1600" dirty="0">
                    <a:latin typeface="Franklin Gothic Book" panose="020B0503020102020204" pitchFamily="34" charset="0"/>
                  </a:rPr>
                  <a:t>Learns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temporal dependencies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 across financial features (e.g., 20-step sequences).</a:t>
                </a:r>
              </a:p>
              <a:p>
                <a:pPr lvl="1"/>
                <a:r>
                  <a:rPr lang="en-US" sz="1600" dirty="0">
                    <a:latin typeface="Franklin Gothic Book" panose="020B0503020102020204" pitchFamily="34" charset="0"/>
                  </a:rPr>
                  <a:t>Dynamically identifies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which past time steps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 and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which features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 (RSI, VIX, FX, macro, crypto…) are most relevant to the current decision.</a:t>
                </a:r>
              </a:p>
              <a:p>
                <a:pPr lvl="1"/>
                <a:r>
                  <a:rPr lang="en-US" sz="1600" dirty="0">
                    <a:latin typeface="Franklin Gothic Book" panose="020B0503020102020204" pitchFamily="34" charset="0"/>
                  </a:rPr>
                  <a:t>Scaled dot-product formulation prevents instability when dimensionality is large.</a:t>
                </a:r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B8289B-2677-31A8-822A-DFCEAAF1C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1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0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0A98-AEF2-57A7-0063-09CA280C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D4A4-E988-9954-6915-80C9BE52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026353"/>
          </a:xfrm>
        </p:spPr>
        <p:txBody>
          <a:bodyPr/>
          <a:lstStyle/>
          <a:p>
            <a:r>
              <a:rPr lang="en-US" dirty="0"/>
              <a:t>3.3 Multi-Head (Parallel Subspace Attention)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736AD-7500-D9B6-CB7E-688BA411DC6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Instead of a single attention computation, we compute </a:t>
                </a:r>
                <a:r>
                  <a:rPr lang="en-US" sz="1800" b="1" dirty="0"/>
                  <a:t>H separate attention heads</a:t>
                </a:r>
                <a:r>
                  <a:rPr lang="en-US" sz="1800" dirty="0"/>
                  <a:t>, each with its own projection matrices: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/>
                            <m:t>head</m:t>
                          </m:r>
                        </m:e>
                        <m:sub>
                          <m:r>
                            <a:rPr lang="ar-AE" sz="1800" i="1"/>
                            <m:t>h</m:t>
                          </m:r>
                        </m:sub>
                      </m:sSub>
                      <m:r>
                        <a:rPr lang="ar-AE" sz="1800"/>
                        <m:t>=</m:t>
                      </m:r>
                      <m:r>
                        <m:rPr>
                          <m:nor/>
                        </m:rPr>
                        <a:rPr lang="en-US" sz="1800" i="1"/>
                        <m:t>Attention</m:t>
                      </m:r>
                      <m:d>
                        <m:dPr>
                          <m:sepChr m:val=","/>
                          <m:ctrlPr>
                            <a:rPr lang="ar-AE" sz="1800" i="1"/>
                          </m:ctrlPr>
                        </m:dPr>
                        <m:e>
                          <m:r>
                            <a:rPr lang="ar-AE" sz="1800" i="1"/>
                            <m:t>𝑄</m:t>
                          </m:r>
                        </m:e>
                        <m:e>
                          <m:sSubSup>
                            <m:sSubSupPr>
                              <m:ctrlPr>
                                <a:rPr lang="ar-AE" sz="1800" i="1"/>
                              </m:ctrlPr>
                            </m:sSubSupPr>
                            <m:e>
                              <m:r>
                                <a:rPr lang="ar-AE" sz="1800" i="1"/>
                                <m:t>𝑊</m:t>
                              </m:r>
                            </m:e>
                            <m:sub>
                              <m:r>
                                <a:rPr lang="ar-AE" sz="1800" i="1"/>
                                <m:t>𝑄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sz="1800" i="1"/>
                                  </m:ctrlPr>
                                </m:dPr>
                                <m:e>
                                  <m:r>
                                    <a:rPr lang="ar-AE" sz="1800" i="1"/>
                                    <m:t>h</m:t>
                                  </m:r>
                                </m:e>
                              </m:d>
                            </m:sup>
                          </m:sSubSup>
                        </m:e>
                        <m:e>
                          <m:r>
                            <m:rPr>
                              <m:nor/>
                            </m:rPr>
                            <a:rPr lang="ar-AE" sz="1800" i="1"/>
                            <m:t>  </m:t>
                          </m:r>
                          <m:r>
                            <a:rPr lang="ar-AE" sz="1800" i="1"/>
                            <m:t>𝐾</m:t>
                          </m:r>
                          <m:sSubSup>
                            <m:sSubSupPr>
                              <m:ctrlPr>
                                <a:rPr lang="ar-AE" sz="1800" i="1"/>
                              </m:ctrlPr>
                            </m:sSubSupPr>
                            <m:e>
                              <m:r>
                                <a:rPr lang="ar-AE" sz="1800" i="1"/>
                                <m:t>𝑊</m:t>
                              </m:r>
                            </m:e>
                            <m:sub>
                              <m:r>
                                <a:rPr lang="ar-AE" sz="1800" i="1"/>
                                <m:t>𝐾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sz="1800" i="1"/>
                                  </m:ctrlPr>
                                </m:dPr>
                                <m:e>
                                  <m:r>
                                    <a:rPr lang="ar-AE" sz="1800" i="1"/>
                                    <m:t>h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nor/>
                            </m:rPr>
                            <a:rPr lang="ar-AE" sz="1800" i="1"/>
                            <m:t>  </m:t>
                          </m:r>
                          <m:r>
                            <a:rPr lang="ar-AE" sz="1800" i="1"/>
                            <m:t>𝑉</m:t>
                          </m:r>
                          <m:sSubSup>
                            <m:sSubSupPr>
                              <m:ctrlPr>
                                <a:rPr lang="ar-AE" sz="1800" i="1"/>
                              </m:ctrlPr>
                            </m:sSubSupPr>
                            <m:e>
                              <m:r>
                                <a:rPr lang="ar-AE" sz="1800" i="1"/>
                                <m:t>𝑊</m:t>
                              </m:r>
                            </m:e>
                            <m:sub>
                              <m:r>
                                <a:rPr lang="ar-AE" sz="1800" i="1"/>
                                <m:t>𝑉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sz="1800" i="1"/>
                                  </m:ctrlPr>
                                </m:dPr>
                                <m:e>
                                  <m:r>
                                    <a:rPr lang="ar-AE" sz="1800" i="1"/>
                                    <m:t>h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ar-AE" sz="1800"/>
                        <m:t>, </m:t>
                      </m:r>
                      <m:r>
                        <a:rPr lang="ar-AE" sz="1800" i="1"/>
                        <m:t>h</m:t>
                      </m:r>
                      <m:r>
                        <a:rPr lang="ar-AE" sz="1800"/>
                        <m:t>=1,…,</m:t>
                      </m:r>
                      <m:r>
                        <a:rPr lang="ar-AE" sz="1800" i="1"/>
                        <m:t>𝐻</m:t>
                      </m:r>
                      <m:r>
                        <a:rPr lang="ar-AE" sz="1800"/>
                        <m:t>.</m:t>
                      </m:r>
                    </m:oMath>
                  </m:oMathPara>
                </a14:m>
                <a:endParaRPr lang="ar-AE" sz="1800" dirty="0"/>
              </a:p>
              <a:p>
                <a:endParaRPr lang="en-US" sz="1800" b="1" dirty="0"/>
              </a:p>
              <a:p>
                <a:r>
                  <a:rPr lang="en-US" sz="1800" b="1" dirty="0"/>
                  <a:t>Concatenation &amp; Output Projection: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/>
                        <m:t>MHA</m:t>
                      </m:r>
                      <m:d>
                        <m:dPr>
                          <m:ctrlPr>
                            <a:rPr lang="ar-AE" sz="1800" i="1"/>
                          </m:ctrlPr>
                        </m:dPr>
                        <m:e>
                          <m:r>
                            <a:rPr lang="ar-AE" sz="1800" i="1"/>
                            <m:t>𝑋</m:t>
                          </m:r>
                        </m:e>
                      </m:d>
                      <m:r>
                        <a:rPr lang="ar-AE" sz="1800"/>
                        <m:t>=</m:t>
                      </m:r>
                      <m:r>
                        <m:rPr>
                          <m:nor/>
                        </m:rPr>
                        <a:rPr lang="en-US" sz="1800" i="1"/>
                        <m:t>Concat</m:t>
                      </m:r>
                      <m:d>
                        <m:dPr>
                          <m:sepChr m:val=","/>
                          <m:ctrlPr>
                            <a:rPr lang="ar-AE" sz="1800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800" i="1"/>
                                <m:t>head</m:t>
                              </m:r>
                            </m:e>
                            <m:sub>
                              <m:r>
                                <a:rPr lang="ar-AE" sz="1800"/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sz="1800"/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sz="1800" i="1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800" i="1"/>
                                <m:t>head</m:t>
                              </m:r>
                            </m:e>
                            <m:sub>
                              <m:r>
                                <a:rPr lang="ar-AE" sz="1800" i="1"/>
                                <m:t>𝐻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ar-AE" sz="1800" i="1"/>
                        <m:t> </m:t>
                      </m:r>
                      <m:sSub>
                        <m:sSubPr>
                          <m:ctrlPr>
                            <a:rPr lang="ar-AE" sz="1800" i="1"/>
                          </m:ctrlPr>
                        </m:sSubPr>
                        <m:e>
                          <m:r>
                            <a:rPr lang="ar-AE" sz="1800" i="1"/>
                            <m:t>𝑊</m:t>
                          </m:r>
                        </m:e>
                        <m:sub>
                          <m:r>
                            <a:rPr lang="ar-AE" sz="1800" i="1"/>
                            <m:t>𝑂</m:t>
                          </m:r>
                        </m:sub>
                      </m:sSub>
                    </m:oMath>
                  </m:oMathPara>
                </a14:m>
                <a:endParaRPr lang="ar-AE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1400" i="1" dirty="0">
                    <a:solidFill>
                      <a:srgbClr val="002060"/>
                    </a:solidFill>
                  </a:rPr>
                  <a:t>Captures </a:t>
                </a:r>
                <a:r>
                  <a:rPr lang="en-US" sz="1400" b="1" i="1" dirty="0">
                    <a:solidFill>
                      <a:srgbClr val="002060"/>
                    </a:solidFill>
                  </a:rPr>
                  <a:t>distinct financial dynamics</a:t>
                </a:r>
                <a:r>
                  <a:rPr lang="en-US" sz="1400" i="1" dirty="0">
                    <a:solidFill>
                      <a:srgbClr val="002060"/>
                    </a:solidFill>
                  </a:rPr>
                  <a:t> simultaneously.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1400" i="1" dirty="0">
                    <a:solidFill>
                      <a:srgbClr val="002060"/>
                    </a:solidFill>
                  </a:rPr>
                  <a:t>Allows each head to specialize in a different </a:t>
                </a:r>
                <a:r>
                  <a:rPr lang="en-US" sz="1400" b="1" i="1" dirty="0">
                    <a:solidFill>
                      <a:srgbClr val="002060"/>
                    </a:solidFill>
                  </a:rPr>
                  <a:t>regime behavior</a:t>
                </a:r>
                <a:r>
                  <a:rPr lang="en-US" sz="1400" i="1" dirty="0">
                    <a:solidFill>
                      <a:srgbClr val="002060"/>
                    </a:solidFill>
                  </a:rPr>
                  <a:t>.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1400" i="1" dirty="0">
                    <a:solidFill>
                      <a:srgbClr val="002060"/>
                    </a:solidFill>
                  </a:rPr>
                  <a:t>Improves model robustness under market turbulence by integrating multiple independent attention signals.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1400" i="1" dirty="0">
                    <a:solidFill>
                      <a:srgbClr val="002060"/>
                    </a:solidFill>
                  </a:rPr>
                  <a:t>Supports efficient </a:t>
                </a:r>
                <a:r>
                  <a:rPr lang="en-US" sz="1400" b="1" i="1" dirty="0">
                    <a:solidFill>
                      <a:srgbClr val="002060"/>
                    </a:solidFill>
                  </a:rPr>
                  <a:t>cross-asset, cross-temporal learning</a:t>
                </a:r>
                <a:r>
                  <a:rPr lang="en-US" sz="1400" i="1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736AD-7500-D9B6-CB7E-688BA411D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62" t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911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C553-213F-8832-6A2F-A69CD7FB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2E6C9-62A9-98A3-997E-7B1A4028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3.4. 3-Layer Attention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81559-7F98-D83E-78A8-91E41F6E5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13995"/>
            <a:ext cx="5105401" cy="2326511"/>
          </a:xfrm>
        </p:spPr>
        <p:txBody>
          <a:bodyPr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Layer 1 — Short-Term Pattern Extraction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Learns </a:t>
            </a:r>
            <a:r>
              <a:rPr lang="en-US" sz="1600" b="1" dirty="0">
                <a:latin typeface="Franklin Gothic Book" panose="020B0503020102020204" pitchFamily="34" charset="0"/>
              </a:rPr>
              <a:t>immediate temporal dependencies</a:t>
            </a:r>
            <a:r>
              <a:rPr lang="en-US" sz="1600" dirty="0">
                <a:latin typeface="Franklin Gothic Book" panose="020B0503020102020204" pitchFamily="34" charset="0"/>
              </a:rPr>
              <a:t> (1–3 day effects).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Detects fast signals: momentum bursts, volatility spikes, sentiment jumps.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Provides a “local view” of short-term market behavior.</a:t>
            </a:r>
          </a:p>
          <a:p>
            <a:pPr marL="457200" lvl="1" indent="0">
              <a:buNone/>
            </a:pPr>
            <a:endParaRPr lang="en-US" sz="1600" dirty="0">
              <a:latin typeface="Franklin Gothic Book" panose="020B0503020102020204" pitchFamily="34" charset="0"/>
            </a:endParaRP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5F1EA-4777-FE6C-14A7-0C98EF139C9B}"/>
              </a:ext>
            </a:extLst>
          </p:cNvPr>
          <p:cNvSpPr txBox="1"/>
          <p:nvPr/>
        </p:nvSpPr>
        <p:spPr>
          <a:xfrm>
            <a:off x="6248402" y="2559026"/>
            <a:ext cx="57776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Franklin Gothic Book" panose="020B0503020102020204" pitchFamily="34" charset="0"/>
              </a:rPr>
              <a:t>Layer 2 — Medium-Term Context Modeling</a:t>
            </a:r>
          </a:p>
          <a:p>
            <a:endParaRPr lang="en-US" sz="1600" dirty="0">
              <a:latin typeface="Franklin Gothic Book" panose="020B05030201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Builds on Layer 1 to capture </a:t>
            </a:r>
            <a:r>
              <a:rPr lang="en-US" sz="1600" b="1" dirty="0">
                <a:latin typeface="Franklin Gothic Book" panose="020B0503020102020204" pitchFamily="34" charset="0"/>
              </a:rPr>
              <a:t>multi-day relationships</a:t>
            </a:r>
            <a:r>
              <a:rPr lang="en-US" sz="1600" dirty="0">
                <a:latin typeface="Franklin Gothic Book" panose="020B0503020102020204" pitchFamily="34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Learns context such as macro drift, sector rotation, lagged correlations.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Integrates signals across </a:t>
            </a:r>
            <a:r>
              <a:rPr lang="en-US" sz="1600" b="1" dirty="0">
                <a:latin typeface="Franklin Gothic Book" panose="020B0503020102020204" pitchFamily="34" charset="0"/>
              </a:rPr>
              <a:t>intermediate time horizons</a:t>
            </a:r>
            <a:r>
              <a:rPr lang="en-US" sz="1600" dirty="0">
                <a:latin typeface="Franklin Gothic Book" panose="020B0503020102020204" pitchFamily="34" charset="0"/>
              </a:rPr>
              <a:t>.</a:t>
            </a:r>
          </a:p>
          <a:p>
            <a:endParaRPr lang="en-US" sz="1600" dirty="0">
              <a:latin typeface="Franklin Gothic Book" panose="020B0503020102020204" pitchFamily="34" charset="0"/>
            </a:endParaRPr>
          </a:p>
          <a:p>
            <a:r>
              <a:rPr lang="en-US" sz="1600" b="1" dirty="0">
                <a:latin typeface="Franklin Gothic Book" panose="020B0503020102020204" pitchFamily="34" charset="0"/>
              </a:rPr>
              <a:t>Layer 3 — Long-Term Structure &amp; Regime Understanding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Aggregates all earlier features to learn </a:t>
            </a:r>
            <a:r>
              <a:rPr lang="en-US" sz="1600" b="1" dirty="0">
                <a:latin typeface="Franklin Gothic Book" panose="020B0503020102020204" pitchFamily="34" charset="0"/>
              </a:rPr>
              <a:t>market-level structures</a:t>
            </a:r>
            <a:r>
              <a:rPr lang="en-US" sz="1600" dirty="0">
                <a:latin typeface="Franklin Gothic Book" panose="020B0503020102020204" pitchFamily="34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Captures regime changes, volatility cycles, macro trends.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Franklin Gothic Book" panose="020B0503020102020204" pitchFamily="34" charset="0"/>
              </a:rPr>
              <a:t>Produces the </a:t>
            </a:r>
            <a:r>
              <a:rPr lang="en-US" sz="1600" b="1" dirty="0">
                <a:latin typeface="Franklin Gothic Book" panose="020B0503020102020204" pitchFamily="34" charset="0"/>
              </a:rPr>
              <a:t>final high-level representation</a:t>
            </a:r>
            <a:r>
              <a:rPr lang="en-US" sz="1600" dirty="0">
                <a:latin typeface="Franklin Gothic Book" panose="020B0503020102020204" pitchFamily="34" charset="0"/>
              </a:rPr>
              <a:t> used for decision-making.</a:t>
            </a:r>
          </a:p>
          <a:p>
            <a:endParaRPr lang="en-US" sz="1600" dirty="0">
              <a:latin typeface="Franklin Gothic Book" panose="020B0503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AD8A4-A116-AC34-5923-D88EE6EF193D}"/>
              </a:ext>
            </a:extLst>
          </p:cNvPr>
          <p:cNvSpPr txBox="1"/>
          <p:nvPr/>
        </p:nvSpPr>
        <p:spPr>
          <a:xfrm>
            <a:off x="838200" y="1391479"/>
            <a:ext cx="94287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Each layer applies </a:t>
            </a:r>
            <a:r>
              <a:rPr lang="en-US" b="1" dirty="0">
                <a:latin typeface="Franklin Gothic Book" panose="020B0503020102020204" pitchFamily="34" charset="0"/>
              </a:rPr>
              <a:t>self-attention + residual connections + layer normalization</a:t>
            </a:r>
            <a:r>
              <a:rPr lang="en-US" dirty="0">
                <a:latin typeface="Franklin Gothic Book" panose="020B0503020102020204" pitchFamily="34" charset="0"/>
              </a:rPr>
              <a:t>, progressively learning richer temporal and cross-feature patterns.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5014D-8DD5-7740-DC73-171B33E56F83}"/>
              </a:ext>
            </a:extLst>
          </p:cNvPr>
          <p:cNvSpPr txBox="1"/>
          <p:nvPr/>
        </p:nvSpPr>
        <p:spPr>
          <a:xfrm>
            <a:off x="841099" y="4506520"/>
            <a:ext cx="51054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 Connections (Across All Layers)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Preserve original feature information while adding learned patterns.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Stabilize gradients and prevent over-smoothing.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597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D1BE-468D-48B2-FEBF-D3EF9753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1EEB-EC69-B842-ADBB-36369B47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 Global Average Pooling (GAP)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81FA60-203C-C804-B15F-5359F0B2627C}"/>
                  </a:ext>
                </a:extLst>
              </p:cNvPr>
              <p:cNvSpPr txBox="1"/>
              <p:nvPr/>
            </p:nvSpPr>
            <p:spPr>
              <a:xfrm>
                <a:off x="648182" y="1415905"/>
                <a:ext cx="10705617" cy="5216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Franklin Gothic Book" panose="020B0503020102020204" pitchFamily="34" charset="0"/>
                  </a:rPr>
                  <a:t>Temporal Aggregation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/>
                        <m:t>𝑧</m:t>
                      </m:r>
                      <m:r>
                        <a:rPr lang="en-US" sz="1600"/>
                        <m:t>=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1</m:t>
                          </m:r>
                        </m:num>
                        <m:den>
                          <m:r>
                            <a:rPr lang="ar-AE" sz="1600" i="1"/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1600" i="1"/>
                          </m:ctrlPr>
                        </m:naryPr>
                        <m:sub>
                          <m:r>
                            <a:rPr lang="ar-AE" sz="1600" i="1"/>
                            <m:t>𝑡</m:t>
                          </m:r>
                          <m:r>
                            <a:rPr lang="ar-AE" sz="1600"/>
                            <m:t>=1</m:t>
                          </m:r>
                        </m:sub>
                        <m:sup>
                          <m:r>
                            <a:rPr lang="ar-AE" sz="1600" i="1"/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ar-AE" sz="1600" i="1"/>
                              </m:ctrlPr>
                            </m:sSubPr>
                            <m:e>
                              <m:r>
                                <a:rPr lang="ar-AE" sz="1600" i="1"/>
                                <m:t>h</m:t>
                              </m:r>
                            </m:e>
                            <m:sub>
                              <m:r>
                                <a:rPr lang="ar-AE" sz="1600" i="1"/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ar-AE" sz="1600"/>
                        <m:t>, 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h</m:t>
                          </m:r>
                        </m:e>
                        <m:sub>
                          <m:r>
                            <a:rPr lang="ar-AE" sz="1600" i="1"/>
                            <m:t>𝑡</m:t>
                          </m:r>
                        </m:sub>
                      </m:sSub>
                      <m:r>
                        <a:rPr lang="ar-AE" sz="1600"/>
                        <m:t>∈</m:t>
                      </m:r>
                      <m:sSup>
                        <m:sSupPr>
                          <m:ctrlPr>
                            <a:rPr lang="ar-AE" sz="1600" i="1"/>
                          </m:ctrlPr>
                        </m:sSupPr>
                        <m:e>
                          <m:r>
                            <a:rPr lang="ar-AE" sz="1600"/>
                            <m:t>ℝ</m:t>
                          </m:r>
                        </m:e>
                        <m:sup>
                          <m:r>
                            <a:rPr lang="ar-AE" sz="1600" i="1"/>
                            <m:t>𝑑</m:t>
                          </m:r>
                        </m:sup>
                      </m:sSup>
                    </m:oMath>
                  </m:oMathPara>
                </a14:m>
                <a:endParaRPr lang="ar-AE" sz="1600" dirty="0">
                  <a:latin typeface="Franklin Gothic Book" panose="020B0503020102020204" pitchFamily="34" charset="0"/>
                </a:endParaRPr>
              </a:p>
              <a:p>
                <a:r>
                  <a:rPr lang="en-US" sz="1600" b="1" dirty="0">
                    <a:latin typeface="Franklin Gothic Book" panose="020B0503020102020204" pitchFamily="34" charset="0"/>
                  </a:rPr>
                  <a:t>Purpose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Converts a sequence of attention outputs into a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fixed-length vector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Acts as a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smooth temporal compressor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, emphasizing consistent trends over noise.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Ensures the model is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invariant to position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 within the sequence window.</a:t>
                </a:r>
              </a:p>
              <a:p>
                <a:pPr lvl="1"/>
                <a:br>
                  <a:rPr lang="en-US" sz="1600" dirty="0">
                    <a:latin typeface="Franklin Gothic Book" panose="020B0503020102020204" pitchFamily="34" charset="0"/>
                  </a:rPr>
                </a:br>
                <a:endParaRPr lang="en-US" sz="1600" dirty="0">
                  <a:latin typeface="Franklin Gothic Book" panose="020B0503020102020204" pitchFamily="34" charset="0"/>
                </a:endParaRPr>
              </a:p>
              <a:p>
                <a:r>
                  <a:rPr lang="en-US" sz="1600" b="1" dirty="0">
                    <a:latin typeface="Franklin Gothic Book" panose="020B0503020102020204" pitchFamily="34" charset="0"/>
                  </a:rPr>
                  <a:t>Why GAP Is Critical in Our Framework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Summarizes Layer 1–3 outputs into one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market embedding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Provides the Q-network with a 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holistic snapshot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 of the last 20 steps.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Prevents the model from fixating on individual “spike” events.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Improves robustness across unpredictable market regimes.</a:t>
                </a:r>
              </a:p>
              <a:p>
                <a:pPr lvl="1"/>
                <a:br>
                  <a:rPr lang="en-US" sz="1600" dirty="0">
                    <a:latin typeface="Franklin Gothic Book" panose="020B0503020102020204" pitchFamily="34" charset="0"/>
                  </a:rPr>
                </a:br>
                <a:endParaRPr lang="en-US" sz="1600" dirty="0">
                  <a:latin typeface="Franklin Gothic Book" panose="020B0503020102020204" pitchFamily="34" charset="0"/>
                </a:endParaRPr>
              </a:p>
              <a:p>
                <a:r>
                  <a:rPr lang="en-US" sz="1600" b="1" dirty="0">
                    <a:latin typeface="Franklin Gothic Book" panose="020B0503020102020204" pitchFamily="34" charset="0"/>
                  </a:rPr>
                  <a:t>Final Output: Q-Values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Franklin Gothic Book" panose="020B0503020102020204" pitchFamily="34" charset="0"/>
                  </a:rPr>
                  <a:t>The pooled embedding is fed into the Q-network to estimate: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sz="1600" b="1" dirty="0" err="1">
                    <a:latin typeface="Franklin Gothic Book" panose="020B0503020102020204" pitchFamily="34" charset="0"/>
                  </a:rPr>
                  <a:t>Q_buy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, </a:t>
                </a:r>
                <a:r>
                  <a:rPr lang="en-US" sz="1600" b="1" dirty="0" err="1">
                    <a:latin typeface="Franklin Gothic Book" panose="020B0503020102020204" pitchFamily="34" charset="0"/>
                  </a:rPr>
                  <a:t>Q_sell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, </a:t>
                </a:r>
                <a:r>
                  <a:rPr lang="en-US" sz="1600" b="1" dirty="0" err="1">
                    <a:latin typeface="Franklin Gothic Book" panose="020B0503020102020204" pitchFamily="34" charset="0"/>
                  </a:rPr>
                  <a:t>Q_hold</a:t>
                </a:r>
                <a:r>
                  <a:rPr lang="en-US" sz="1600" b="1" dirty="0">
                    <a:latin typeface="Franklin Gothic Book" panose="020B0503020102020204" pitchFamily="34" charset="0"/>
                  </a:rPr>
                  <a:t> </a:t>
                </a:r>
                <a:r>
                  <a:rPr lang="en-US" sz="1600" dirty="0">
                    <a:latin typeface="Franklin Gothic Book" panose="020B0503020102020204" pitchFamily="34" charset="0"/>
                  </a:rPr>
                  <a:t>reflecting the expected future rewards for each action.</a:t>
                </a:r>
              </a:p>
              <a:p>
                <a:endParaRPr lang="en-US" sz="1600" dirty="0">
                  <a:latin typeface="Franklin Gothic Book" panose="020B05030201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81FA60-203C-C804-B15F-5359F0B26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2" y="1415905"/>
                <a:ext cx="10705617" cy="5216684"/>
              </a:xfrm>
              <a:prstGeom prst="rect">
                <a:avLst/>
              </a:prstGeom>
              <a:blipFill>
                <a:blip r:embed="rId2"/>
                <a:stretch>
                  <a:fillRect l="-237" t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01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3.6 </a:t>
            </a:r>
            <a:r>
              <a:rPr dirty="0"/>
              <a:t>Adversarial Attacks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AAD8D-A52A-6C4D-F92C-92D2E44404C8}"/>
              </a:ext>
            </a:extLst>
          </p:cNvPr>
          <p:cNvSpPr txBox="1"/>
          <p:nvPr/>
        </p:nvSpPr>
        <p:spPr>
          <a:xfrm>
            <a:off x="512957" y="2393464"/>
            <a:ext cx="5263376" cy="540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/>
            </a:pPr>
            <a:r>
              <a:rPr lang="en-US" sz="1600" dirty="0">
                <a:latin typeface="Franklin Gothic Book" panose="020B0503020102020204" pitchFamily="34" charset="0"/>
              </a:rPr>
              <a:t>1. FGSM (Fast Gradient Sign Method):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Franklin Gothic Book" panose="020B0503020102020204" pitchFamily="34" charset="0"/>
              </a:rPr>
              <a:t>A single, quick shove that pushes the model in the direction it is easiest to fool.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Franklin Gothic Book" panose="020B0503020102020204" pitchFamily="34" charset="0"/>
              </a:rPr>
              <a:t>A tiny decrease in RSI and a tiny increase in MACD tricks the model into flipping META from BUY → SELL.</a:t>
            </a:r>
          </a:p>
          <a:p>
            <a:pPr>
              <a:spcAft>
                <a:spcPts val="600"/>
              </a:spcAft>
              <a:defRPr sz="1600" b="1"/>
            </a:pPr>
            <a:endParaRPr lang="en-US" sz="1600" dirty="0">
              <a:latin typeface="Franklin Gothic Book" panose="020B0503020102020204" pitchFamily="34" charset="0"/>
            </a:endParaRPr>
          </a:p>
          <a:p>
            <a:pPr>
              <a:spcAft>
                <a:spcPts val="600"/>
              </a:spcAft>
              <a:defRPr sz="1600" b="1"/>
            </a:pPr>
            <a:r>
              <a:rPr lang="en-US" sz="1600" dirty="0">
                <a:latin typeface="Franklin Gothic Book" panose="020B0503020102020204" pitchFamily="34" charset="0"/>
              </a:rPr>
              <a:t>2. PGD (Projected Gradient Descent):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Franklin Gothic Book" panose="020B0503020102020204" pitchFamily="34" charset="0"/>
              </a:rPr>
              <a:t>repeated many times, each step making the deception stronger — like several small nudges until the model loses balance.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Franklin Gothic Book" panose="020B0503020102020204" pitchFamily="34" charset="0"/>
              </a:rPr>
              <a:t>Several micro-adjustments to volatility, sentiment, and FX inputs over 10 steps slowly push the Q-network into predicting SELL instead of BUY.</a:t>
            </a:r>
          </a:p>
          <a:p>
            <a:pPr>
              <a:spcAft>
                <a:spcPts val="1000"/>
              </a:spcAft>
              <a:defRPr sz="1200"/>
            </a:pPr>
            <a:endParaRPr lang="en-US" sz="1600" dirty="0"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 sz="1600" b="1"/>
            </a:pPr>
            <a:endParaRPr lang="en-US" sz="1600" b="1" dirty="0"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600" dirty="0">
              <a:latin typeface="Franklin Gothic Book" panose="020B0503020102020204" pitchFamily="34" charset="0"/>
            </a:endParaRPr>
          </a:p>
          <a:p>
            <a:pPr>
              <a:spcAft>
                <a:spcPts val="600"/>
              </a:spcAft>
              <a:defRPr sz="1600" b="1"/>
            </a:pPr>
            <a:endParaRPr lang="en-US" sz="1600" dirty="0">
              <a:latin typeface="Franklin Gothic Book" panose="020B0503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45238-FDE7-CCE2-BD5F-6A3266FCE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630" y="1190758"/>
            <a:ext cx="3873500" cy="736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EF9671-6004-4A81-F4B7-8CF26845F8F0}"/>
              </a:ext>
            </a:extLst>
          </p:cNvPr>
          <p:cNvSpPr txBox="1"/>
          <p:nvPr/>
        </p:nvSpPr>
        <p:spPr>
          <a:xfrm>
            <a:off x="2017118" y="1278283"/>
            <a:ext cx="328775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  <a:defRPr sz="1800" b="1"/>
            </a:pPr>
            <a:r>
              <a:rPr lang="en-US" dirty="0"/>
              <a:t>Threat Model:</a:t>
            </a:r>
          </a:p>
          <a:p>
            <a:pPr marL="0" indent="0">
              <a:spcAft>
                <a:spcPts val="400"/>
              </a:spcAft>
              <a:buNone/>
              <a:defRPr sz="1600"/>
            </a:pPr>
            <a:r>
              <a:rPr lang="en-US" dirty="0"/>
              <a:t>Find perturbation </a:t>
            </a:r>
            <a:r>
              <a:rPr lang="el-GR" dirty="0"/>
              <a:t>δ </a:t>
            </a:r>
            <a:r>
              <a:rPr lang="en-US" dirty="0"/>
              <a:t>such that: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600E64-40BE-936E-47ED-88C22D297DDC}"/>
              </a:ext>
            </a:extLst>
          </p:cNvPr>
          <p:cNvSpPr txBox="1"/>
          <p:nvPr/>
        </p:nvSpPr>
        <p:spPr>
          <a:xfrm>
            <a:off x="5869172" y="2435992"/>
            <a:ext cx="5809871" cy="403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00" b="1"/>
            </a:pPr>
            <a:r>
              <a:rPr lang="en-US" sz="1600" dirty="0">
                <a:latin typeface="Franklin Gothic Book" panose="020B0503020102020204" pitchFamily="34" charset="0"/>
              </a:rPr>
              <a:t>3. C&amp;W (Carlini &amp; Wagner):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Franklin Gothic Book" panose="020B0503020102020204" pitchFamily="34" charset="0"/>
              </a:rPr>
              <a:t>A stealth attack that finds the smallest possible change that still fools the model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Franklin Gothic Book" panose="020B0503020102020204" pitchFamily="34" charset="0"/>
              </a:rPr>
              <a:t>A microscopic tweak to RSI (&lt;0.01) and sentiment (+0.004) that no human would notice causes the model to switch from HOLD → BUY.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 sz="1600" b="1"/>
            </a:pPr>
            <a:r>
              <a:rPr lang="en-US" sz="1600" b="1" dirty="0">
                <a:latin typeface="Franklin Gothic Book" panose="020B0503020102020204" pitchFamily="34" charset="0"/>
              </a:rPr>
              <a:t>4. Deep Fool: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Franklin Gothic Book" panose="020B0503020102020204" pitchFamily="34" charset="0"/>
              </a:rPr>
              <a:t>DeepFool</a:t>
            </a:r>
            <a:r>
              <a:rPr lang="en-US" sz="1600" dirty="0">
                <a:latin typeface="Franklin Gothic Book" panose="020B0503020102020204" pitchFamily="34" charset="0"/>
              </a:rPr>
              <a:t> walks directly toward the model’s decision boundary, until it finds the exact point where the model changes its mind — the “closest edge” method.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Franklin Gothic Book" panose="020B0503020102020204" pitchFamily="34" charset="0"/>
              </a:rPr>
              <a:t>DeepFool</a:t>
            </a:r>
            <a:r>
              <a:rPr lang="en-US" sz="1600" dirty="0">
                <a:latin typeface="Franklin Gothic Book" panose="020B0503020102020204" pitchFamily="34" charset="0"/>
              </a:rPr>
              <a:t> finds the minimum shift in VIX and MACD that moves the agent exactly across the Buy/Hold boundary, causing an unintended SELL.</a:t>
            </a:r>
          </a:p>
          <a:p>
            <a:endParaRPr lang="en-US" sz="1600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3724" cy="1026353"/>
          </a:xfrm>
        </p:spPr>
        <p:txBody>
          <a:bodyPr/>
          <a:lstStyle/>
          <a:p>
            <a:r>
              <a:rPr lang="en-US" dirty="0"/>
              <a:t>3.7 </a:t>
            </a:r>
            <a:r>
              <a:rPr dirty="0"/>
              <a:t>Adversarial Training: Building Robust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26685" y="1391478"/>
                <a:ext cx="5014357" cy="4594652"/>
              </a:xfrm>
            </p:spPr>
            <p:txBody>
              <a:bodyPr wrap="square"/>
              <a:lstStyle/>
              <a:p>
                <a:pPr marL="0" indent="0">
                  <a:spcAft>
                    <a:spcPts val="600"/>
                  </a:spcAft>
                  <a:buNone/>
                  <a:defRPr sz="1800" b="1"/>
                </a:pPr>
                <a:endParaRPr lang="en-US" sz="1600" dirty="0">
                  <a:cs typeface="Calibri" panose="020F050202020403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  <a:defRPr sz="1800" b="1"/>
                </a:pPr>
                <a:r>
                  <a:rPr sz="1600" dirty="0">
                    <a:cs typeface="Calibri" panose="020F0502020204030204" pitchFamily="34" charset="0"/>
                  </a:rPr>
                  <a:t>Training Objective:</a:t>
                </a:r>
                <a:endParaRPr lang="en-US" sz="1600" dirty="0">
                  <a:cs typeface="Calibri" panose="020F050202020403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  <a:defRPr sz="1800" b="1"/>
                </a:pPr>
                <a:endParaRPr lang="en-US" sz="1600" dirty="0">
                  <a:cs typeface="Calibri" panose="020F050202020403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  <a:defRPr sz="1800" b="1"/>
                </a:pPr>
                <a:endParaRPr lang="en-US" sz="1600" dirty="0">
                  <a:cs typeface="Calibri" panose="020F050202020403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  <a:defRPr sz="1800" b="1"/>
                </a:pPr>
                <a:r>
                  <a:rPr sz="1600" dirty="0">
                    <a:cs typeface="Calibri" panose="020F0502020204030204" pitchFamily="34" charset="0"/>
                  </a:rPr>
                  <a:t>Training Process:</a:t>
                </a:r>
                <a:endParaRPr lang="en-US" sz="1600" dirty="0">
                  <a:cs typeface="Calibri" panose="020F050202020403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  <a:defRPr sz="1800" b="1"/>
                </a:pPr>
                <a:r>
                  <a:rPr lang="en-US" sz="1600" b="1" dirty="0"/>
                  <a:t>1. Forward Pass on Clean Samples</a:t>
                </a:r>
              </a:p>
              <a:p>
                <a:pPr lvl="1"/>
                <a:r>
                  <a:rPr lang="en-US" sz="1600" dirty="0">
                    <a:latin typeface="Franklin Gothic Book" panose="020B0503020102020204" pitchFamily="34" charset="0"/>
                  </a:rPr>
                  <a:t>Given minibatch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sz="1600"/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sz="1600"/>
                            </m:ctrlPr>
                          </m:dPr>
                          <m:e>
                            <m:r>
                              <a:rPr lang="ar-AE" sz="1600" i="1"/>
                              <m:t>𝑠</m:t>
                            </m:r>
                          </m:e>
                          <m:e>
                            <m:r>
                              <a:rPr lang="ar-AE" sz="1600" i="1"/>
                              <m:t>𝑎</m:t>
                            </m:r>
                          </m:e>
                          <m:e>
                            <m:r>
                              <a:rPr lang="ar-AE" sz="1600" i="1"/>
                              <m:t>𝑟</m:t>
                            </m:r>
                          </m:e>
                          <m:e>
                            <m:sSup>
                              <m:sSupPr>
                                <m:ctrlPr>
                                  <a:rPr lang="ar-AE" sz="1600" i="1"/>
                                </m:ctrlPr>
                              </m:sSupPr>
                              <m:e>
                                <m:r>
                                  <a:rPr lang="ar-AE" sz="1600" i="1"/>
                                  <m:t>𝑠</m:t>
                                </m:r>
                              </m:e>
                              <m:sup>
                                <m:r>
                                  <a:rPr lang="ar-AE" sz="1600"/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ar-AE" sz="1600" i="1"/>
                              <m:t>𝑑</m:t>
                            </m:r>
                          </m:e>
                        </m:d>
                      </m:e>
                    </m:d>
                  </m:oMath>
                </a14:m>
                <a:r>
                  <a:rPr lang="ar-AE" sz="1600" dirty="0">
                    <a:latin typeface="Franklin Gothic Book" panose="020B0503020102020204" pitchFamily="34" charset="0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𝑄</m:t>
                        </m:r>
                      </m:e>
                      <m:sub>
                        <m:r>
                          <a:rPr lang="ar-AE" sz="1600" i="1"/>
                          <m:t>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sz="1600" i="1"/>
                        </m:ctrlPr>
                      </m:dPr>
                      <m:e>
                        <m:r>
                          <a:rPr lang="ar-AE" sz="1600" i="1"/>
                          <m:t>𝑠</m:t>
                        </m:r>
                      </m:e>
                      <m:e>
                        <m:r>
                          <a:rPr lang="ar-AE" sz="1600" i="1"/>
                          <m:t>𝑎</m:t>
                        </m:r>
                      </m:e>
                    </m:d>
                    <m:r>
                      <a:rPr lang="ar-AE" sz="1600"/>
                      <m:t>→</m:t>
                    </m:r>
                    <m:r>
                      <m:rPr>
                        <m:nor/>
                      </m:rPr>
                      <a:rPr lang="en-US" sz="1600" i="1">
                        <a:latin typeface="Franklin Gothic Book" panose="020B0503020102020204" pitchFamily="34" charset="0"/>
                      </a:rPr>
                      <m:t>clean</m:t>
                    </m:r>
                    <m:r>
                      <m:rPr>
                        <m:nor/>
                      </m:rPr>
                      <a:rPr lang="en-US" sz="1600" i="1">
                        <a:latin typeface="Franklin Gothic Book" panose="020B05030201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i="1">
                        <a:latin typeface="Franklin Gothic Book" panose="020B0503020102020204" pitchFamily="34" charset="0"/>
                      </a:rPr>
                      <m:t>Q</m:t>
                    </m:r>
                    <m:r>
                      <m:rPr>
                        <m:nor/>
                      </m:rPr>
                      <a:rPr lang="en-US" sz="1600" i="1">
                        <a:latin typeface="Franklin Gothic Book" panose="020B05030201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i="1">
                        <a:latin typeface="Franklin Gothic Book" panose="020B0503020102020204" pitchFamily="34" charset="0"/>
                      </a:rPr>
                      <m:t>values</m:t>
                    </m:r>
                  </m:oMath>
                </a14:m>
                <a:endParaRPr lang="en-US" sz="1600" dirty="0">
                  <a:latin typeface="Franklin Gothic Book" panose="020B0503020102020204" pitchFamily="34" charset="0"/>
                </a:endParaRPr>
              </a:p>
              <a:p>
                <a:pPr lvl="1"/>
                <a:endParaRPr lang="en-US" sz="1600" dirty="0">
                  <a:latin typeface="Franklin Gothic Book" panose="020B0503020102020204" pitchFamily="34" charset="0"/>
                </a:endParaRPr>
              </a:p>
              <a:p>
                <a:pPr marL="0" indent="0">
                  <a:buNone/>
                </a:pPr>
                <a:r>
                  <a:rPr lang="en-US" sz="1600" b="1" dirty="0"/>
                  <a:t>2. Generate Adversarial Examples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𝑠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i="1">
                            <a:latin typeface="Franklin Gothic Book" panose="020B0503020102020204" pitchFamily="34" charset="0"/>
                          </a:rPr>
                          <m:t>adv</m:t>
                        </m:r>
                      </m:sub>
                    </m:sSub>
                    <m:r>
                      <a:rPr lang="ar-AE" sz="1600"/>
                      <m:t>=</m:t>
                    </m:r>
                    <m:r>
                      <a:rPr lang="ar-AE" sz="1600" i="1"/>
                      <m:t>𝑠</m:t>
                    </m:r>
                    <m:r>
                      <a:rPr lang="ar-AE" sz="1600"/>
                      <m:t>+</m:t>
                    </m:r>
                    <m:sSub>
                      <m:sSubPr>
                        <m:ctrlPr>
                          <a:rPr lang="ar-AE" sz="1600" i="1"/>
                        </m:ctrlPr>
                      </m:sSubPr>
                      <m:e>
                        <m:r>
                          <a:rPr lang="ar-AE" sz="1600" i="1"/>
                          <m:t>𝛿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i="1">
                            <a:latin typeface="Franklin Gothic Book" panose="020B0503020102020204" pitchFamily="34" charset="0"/>
                          </a:rPr>
                          <m:t>FGSM</m:t>
                        </m:r>
                      </m:sub>
                    </m:sSub>
                  </m:oMath>
                </a14:m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pPr marL="457200" lvl="1" indent="0">
                  <a:buNone/>
                </a:pPr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pPr marL="0" indent="0">
                  <a:buNone/>
                </a:pPr>
                <a:endParaRPr lang="ar-AE" sz="1600" dirty="0"/>
              </a:p>
              <a:p>
                <a:pPr marL="457200" lvl="1" indent="0">
                  <a:spcAft>
                    <a:spcPts val="1000"/>
                  </a:spcAft>
                  <a:buNone/>
                  <a:defRPr sz="1400"/>
                </a:pPr>
                <a:endParaRPr sz="1600" dirty="0">
                  <a:latin typeface="Franklin Gothic Book" panose="020B050302010202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26685" y="1391478"/>
                <a:ext cx="5014357" cy="4594652"/>
              </a:xfrm>
              <a:blipFill>
                <a:blip r:embed="rId2"/>
                <a:stretch>
                  <a:fillRect l="-758" b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836D2EF-7A03-B9E9-72D2-AD76361E0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14" y="2154981"/>
            <a:ext cx="5791200" cy="736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D9272E-E603-B1EA-E040-AFFA61834CD4}"/>
                  </a:ext>
                </a:extLst>
              </p:cNvPr>
              <p:cNvSpPr txBox="1"/>
              <p:nvPr/>
            </p:nvSpPr>
            <p:spPr>
              <a:xfrm>
                <a:off x="5243332" y="2523281"/>
                <a:ext cx="5964015" cy="3551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r>
                  <a:rPr lang="en-US" sz="1600" b="1" dirty="0">
                    <a:latin typeface="Franklin Gothic Book" panose="020B0503020102020204" pitchFamily="34" charset="0"/>
                  </a:rPr>
                  <a:t>3. Forward Pass on Adversarial Samples</a:t>
                </a:r>
              </a:p>
              <a:p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Franklin Gothic Book" panose="020B0503020102020204" pitchFamily="34" charset="0"/>
                                </a:rPr>
                                <m:t>adv</m:t>
                              </m:r>
                            </m:sub>
                          </m:sSub>
                        </m:e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600">
                          <a:latin typeface="Franklin Gothic Book" panose="020B0503020102020204" pitchFamily="34" charset="0"/>
                        </a:rPr>
                        <m:t>adversarial</m:t>
                      </m:r>
                      <m:r>
                        <m:rPr>
                          <m:nor/>
                        </m:rPr>
                        <a:rPr lang="en-US" sz="1600">
                          <a:latin typeface="Franklin Gothic Book" panose="020B05030201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Franklin Gothic Book" panose="020B0503020102020204" pitchFamily="34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600">
                          <a:latin typeface="Franklin Gothic Book" panose="020B0503020102020204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latin typeface="Franklin Gothic Book" panose="020B0503020102020204" pitchFamily="34" charset="0"/>
                        </a:rPr>
                        <m:t>values</m:t>
                      </m:r>
                    </m:oMath>
                  </m:oMathPara>
                </a14:m>
                <a:endParaRPr lang="en-US" sz="1600" dirty="0">
                  <a:latin typeface="Franklin Gothic Book" panose="020B0503020102020204" pitchFamily="34" charset="0"/>
                </a:endParaRPr>
              </a:p>
              <a:p>
                <a:pPr lvl="1"/>
                <a:endParaRPr lang="en-US" sz="1600" dirty="0">
                  <a:latin typeface="Franklin Gothic Book" panose="020B0503020102020204" pitchFamily="34" charset="0"/>
                </a:endParaRPr>
              </a:p>
              <a:p>
                <a:r>
                  <a:rPr lang="en-US" sz="1600" b="1" dirty="0">
                    <a:latin typeface="Franklin Gothic Book" panose="020B0503020102020204" pitchFamily="34" charset="0"/>
                  </a:rPr>
                  <a:t>4. Compute Combined Loss and Backpropagate</a:t>
                </a:r>
              </a:p>
              <a:p>
                <a:endParaRPr lang="en-US" sz="1600" b="1" dirty="0">
                  <a:latin typeface="Franklin Gothic Book" panose="020B05030201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Franklin Gothic Book" panose="020B0503020102020204" pitchFamily="34" charset="0"/>
                            </a:rPr>
                            <m:t>total</m:t>
                          </m:r>
                        </m:sub>
                      </m:sSub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Franklin Gothic Book" panose="020B0503020102020204" pitchFamily="34" charset="0"/>
                                </a:rPr>
                                <m:t>adv</m:t>
                              </m:r>
                            </m:sub>
                          </m:sSub>
                        </m:e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600" dirty="0">
                  <a:latin typeface="Franklin Gothic Book" panose="020B0503020102020204" pitchFamily="34" charset="0"/>
                </a:endParaRPr>
              </a:p>
              <a:p>
                <a:pPr lvl="1"/>
                <a:endParaRPr lang="en-US" sz="1600" dirty="0">
                  <a:latin typeface="Franklin Gothic Book" panose="020B0503020102020204" pitchFamily="34" charset="0"/>
                </a:endParaRPr>
              </a:p>
              <a:p>
                <a:pPr lvl="1"/>
                <a:r>
                  <a:rPr lang="en-US" sz="1600" dirty="0">
                    <a:latin typeface="Franklin Gothic Book" panose="020B0503020102020204" pitchFamily="34" charset="0"/>
                  </a:rPr>
                  <a:t>Parameter update: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1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Franklin Gothic Book" panose="020B0503020102020204" pitchFamily="34" charset="0"/>
                            </a:rPr>
                            <m:t>total</m:t>
                          </m:r>
                        </m:sub>
                      </m:sSub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Franklin Gothic Book" panose="020B05030201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D9272E-E603-B1EA-E040-AFFA61834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332" y="2523281"/>
                <a:ext cx="5964015" cy="3551806"/>
              </a:xfrm>
              <a:prstGeom prst="rect">
                <a:avLst/>
              </a:prstGeom>
              <a:blipFill>
                <a:blip r:embed="rId4"/>
                <a:stretch>
                  <a:fillRect l="-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1EEC-FCD2-95BF-00E2-178F4B2B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E6182-14F8-57BE-7CA2-B735BBF6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3724" cy="1026353"/>
          </a:xfrm>
        </p:spPr>
        <p:txBody>
          <a:bodyPr/>
          <a:lstStyle/>
          <a:p>
            <a:r>
              <a:rPr lang="en-US" b="1" dirty="0"/>
              <a:t>4. Performance Measurements 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0DAF1-5A33-7C38-4DB3-C88C979A1111}"/>
              </a:ext>
            </a:extLst>
          </p:cNvPr>
          <p:cNvSpPr txBox="1"/>
          <p:nvPr/>
        </p:nvSpPr>
        <p:spPr>
          <a:xfrm>
            <a:off x="270076" y="1092200"/>
            <a:ext cx="55592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RISK-ADJUSTED RETURN METRICS: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1. Sharpe Ratio: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Measures risk-adjusted return</a:t>
            </a:r>
          </a:p>
          <a:p>
            <a:pPr lvl="1"/>
            <a:r>
              <a:rPr lang="en-US" sz="1600" b="1" dirty="0"/>
              <a:t>3. Maximum Drawdown: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Largest peak-to-trough decline</a:t>
            </a:r>
          </a:p>
          <a:p>
            <a:endParaRPr lang="en-US" sz="1600" dirty="0"/>
          </a:p>
          <a:p>
            <a:r>
              <a:rPr lang="en-US" sz="1600" b="1" dirty="0"/>
              <a:t>RETURN METRICS:</a:t>
            </a:r>
          </a:p>
          <a:p>
            <a:endParaRPr lang="en-US" sz="1600" b="1" dirty="0"/>
          </a:p>
          <a:p>
            <a:pPr lvl="1"/>
            <a:r>
              <a:rPr lang="en-US" sz="1600" b="1" dirty="0"/>
              <a:t>4. CAGR (Compound Annual Growth Rate):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Annualized return over period</a:t>
            </a:r>
          </a:p>
          <a:p>
            <a:pPr lvl="1"/>
            <a:r>
              <a:rPr lang="en-US" sz="1600" b="1" dirty="0"/>
              <a:t>5. Total Return: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Overall portfolio appreciation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/>
              <a:t>TRADING PERFORMANCE METRICS:</a:t>
            </a:r>
          </a:p>
          <a:p>
            <a:endParaRPr lang="en-US" sz="1600" dirty="0"/>
          </a:p>
          <a:p>
            <a:pPr lvl="1"/>
            <a:r>
              <a:rPr lang="en-US" sz="1600" b="1" dirty="0"/>
              <a:t>6. Win Rate: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Percentage of profitable trades</a:t>
            </a:r>
          </a:p>
          <a:p>
            <a:pPr lvl="1"/>
            <a:r>
              <a:rPr lang="en-US" sz="1600" b="1" dirty="0"/>
              <a:t>7. Number of Trades: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Total trading actions executed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Measures trading frequency</a:t>
            </a:r>
          </a:p>
          <a:p>
            <a:r>
              <a:rPr lang="en-US" sz="1600" dirty="0"/>
              <a:t> </a:t>
            </a:r>
          </a:p>
          <a:p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8C1E5-A3A7-2E7A-26FD-9BFB2FCDFC00}"/>
              </a:ext>
            </a:extLst>
          </p:cNvPr>
          <p:cNvSpPr txBox="1"/>
          <p:nvPr/>
        </p:nvSpPr>
        <p:spPr>
          <a:xfrm>
            <a:off x="5308600" y="1219200"/>
            <a:ext cx="6045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ROBUSTNESS METRICS:</a:t>
            </a:r>
          </a:p>
          <a:p>
            <a:endParaRPr lang="en-US" sz="1600" dirty="0"/>
          </a:p>
          <a:p>
            <a:pPr lvl="1"/>
            <a:r>
              <a:rPr lang="en-US" sz="1600" b="1" dirty="0"/>
              <a:t>8. Robustness Score: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Formula: </a:t>
            </a:r>
            <a:r>
              <a:rPr lang="en-US" sz="1600" dirty="0" err="1"/>
              <a:t>R_index</a:t>
            </a:r>
            <a:r>
              <a:rPr lang="en-US" sz="1600" dirty="0"/>
              <a:t> = 1 - (</a:t>
            </a:r>
            <a:r>
              <a:rPr lang="en-US" sz="1600" dirty="0" err="1"/>
              <a:t>Δ_performance</a:t>
            </a:r>
            <a:r>
              <a:rPr lang="en-US" sz="1600" dirty="0"/>
              <a:t> / </a:t>
            </a:r>
            <a:r>
              <a:rPr lang="en-US" sz="1600" dirty="0" err="1"/>
              <a:t>Performance_clean</a:t>
            </a:r>
            <a:r>
              <a:rPr lang="en-US" sz="1600" dirty="0"/>
              <a:t>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Measures performance degradation under attack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Range: 0-1 (1.0 = perfect robustness)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9. Adversarial Resistance:</a:t>
            </a:r>
            <a:endParaRPr lang="en-US" sz="16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Percentage: 100% - </a:t>
            </a:r>
            <a:r>
              <a:rPr lang="en-US" sz="1600" dirty="0" err="1"/>
              <a:t>Performance_Degradation</a:t>
            </a:r>
            <a:r>
              <a:rPr lang="en-US" sz="1600" dirty="0"/>
              <a:t>%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Measures resistance to attacks (FGSM, PGD, BIM, C&amp;W)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Example: 100% resistance = No performance loss under attack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1943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1100-2D85-F7FD-23B7-24E55104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B17-0123-E787-4BDB-418B3A042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Outcome/findings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B668B3-5E30-DFB0-BDE9-7CD050AB80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0669" y="1391478"/>
            <a:ext cx="5342610" cy="185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25BC1F-493D-0AEB-E1AA-E0AABEC3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7" y="3529868"/>
            <a:ext cx="4330700" cy="1854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011039-F3DB-73A6-D5A4-BF19B3F28C85}"/>
              </a:ext>
            </a:extLst>
          </p:cNvPr>
          <p:cNvSpPr txBox="1"/>
          <p:nvPr/>
        </p:nvSpPr>
        <p:spPr>
          <a:xfrm>
            <a:off x="6096000" y="1391478"/>
            <a:ext cx="5706391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r>
              <a:rPr lang="en-US" sz="1600" b="1" i="0" dirty="0">
                <a:effectLst/>
                <a:latin typeface="Franklin Gothic Book" panose="020B0503020102020204" pitchFamily="34" charset="0"/>
              </a:rPr>
              <a:t>MHA-DQN Clean Model: </a:t>
            </a:r>
            <a:r>
              <a:rPr lang="en-US" sz="1600" i="0" dirty="0">
                <a:effectLst/>
                <a:latin typeface="Franklin Gothic Book" panose="020B0503020102020204" pitchFamily="34" charset="0"/>
              </a:rPr>
              <a:t>Achieved 2.88 Sharpe ratio and 78% CAGR on META stock</a:t>
            </a:r>
            <a:r>
              <a:rPr lang="en-US" sz="1600" dirty="0">
                <a:latin typeface="Franklin Gothic Book" panose="020B0503020102020204" pitchFamily="34" charset="0"/>
              </a:rPr>
              <a:t>: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Courier New" panose="02070309020205020404" pitchFamily="49" charset="0"/>
              <a:buChar char="o"/>
            </a:pPr>
            <a:r>
              <a:rPr lang="en-US" sz="1600" i="0" dirty="0">
                <a:effectLst/>
                <a:latin typeface="Franklin Gothic Book" panose="020B0503020102020204" pitchFamily="34" charset="0"/>
              </a:rPr>
              <a:t>69% total return ($10,000 → $16,875) over 229 days with only -7% maximum drawdown.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endParaRPr lang="en-US" sz="1600" i="0" dirty="0">
              <a:effectLst/>
              <a:latin typeface="Franklin Gothic Book" panose="020B0503020102020204" pitchFamily="3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r>
              <a:rPr lang="en-US" sz="1600" b="1" i="0" dirty="0">
                <a:effectLst/>
                <a:latin typeface="Franklin Gothic Book" panose="020B0503020102020204" pitchFamily="34" charset="0"/>
              </a:rPr>
              <a:t>Multi-Head Attention: 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Courier New" panose="02070309020205020404" pitchFamily="49" charset="0"/>
              <a:buChar char="o"/>
            </a:pPr>
            <a:r>
              <a:rPr lang="en-US" sz="1600" i="0" dirty="0">
                <a:effectLst/>
                <a:latin typeface="Franklin Gothic Book" panose="020B0503020102020204" pitchFamily="34" charset="0"/>
              </a:rPr>
              <a:t>Sharpe and CAGR improvement over baseline DQN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endParaRPr lang="en-US" sz="1600" i="0" dirty="0">
              <a:effectLst/>
              <a:latin typeface="Franklin Gothic Book" panose="020B0503020102020204" pitchFamily="3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r>
              <a:rPr lang="en-US" sz="1600" b="1" i="0" dirty="0" err="1">
                <a:effectLst/>
                <a:latin typeface="Franklin Gothic Book" panose="020B0503020102020204" pitchFamily="34" charset="0"/>
              </a:rPr>
              <a:t>Adversarially</a:t>
            </a:r>
            <a:r>
              <a:rPr lang="en-US" sz="1600" b="1" i="0" dirty="0">
                <a:effectLst/>
                <a:latin typeface="Franklin Gothic Book" panose="020B0503020102020204" pitchFamily="34" charset="0"/>
              </a:rPr>
              <a:t>-trained model: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Courier New" panose="02070309020205020404" pitchFamily="49" charset="0"/>
              <a:buChar char="o"/>
            </a:pPr>
            <a:r>
              <a:rPr lang="en-US" sz="1600" i="0" dirty="0">
                <a:effectLst/>
                <a:latin typeface="Franklin Gothic Book" panose="020B0503020102020204" pitchFamily="34" charset="0"/>
              </a:rPr>
              <a:t>2.32 Sharpe ratio while achieving 100% resistance to FGSM, PGD, BIM, and C&amp;W attacks, validating robust performance.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endParaRPr lang="en-US" sz="1600" i="0" dirty="0">
              <a:effectLst/>
              <a:latin typeface="Franklin Gothic Book" panose="020B0503020102020204" pitchFamily="34" charset="0"/>
            </a:endParaRP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</a:rPr>
              <a:t>R</a:t>
            </a:r>
            <a:r>
              <a:rPr lang="en-US" sz="1600" b="1" i="0" dirty="0">
                <a:effectLst/>
                <a:latin typeface="Franklin Gothic Book" panose="020B0503020102020204" pitchFamily="34" charset="0"/>
              </a:rPr>
              <a:t>isk reduction in maximum drawdown: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Courier New" panose="02070309020205020404" pitchFamily="49" charset="0"/>
              <a:buChar char="o"/>
            </a:pPr>
            <a:r>
              <a:rPr lang="en-US" sz="1600" i="0" dirty="0">
                <a:effectLst/>
                <a:latin typeface="Franklin Gothic Book" panose="020B0503020102020204" pitchFamily="34" charset="0"/>
              </a:rPr>
              <a:t>combined with exceptional returns demonstrates superior risk-adjusted performance</a:t>
            </a:r>
          </a:p>
        </p:txBody>
      </p:sp>
    </p:spTree>
    <p:extLst>
      <p:ext uri="{BB962C8B-B14F-4D97-AF65-F5344CB8AC3E}">
        <p14:creationId xmlns:p14="http://schemas.microsoft.com/office/powerpoint/2010/main" val="2808368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2565-A6C3-9417-E7C0-66C183C0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BA9B-4EE6-DE33-56BB-FCA41115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18748"/>
          </a:xfrm>
        </p:spPr>
        <p:txBody>
          <a:bodyPr/>
          <a:lstStyle/>
          <a:p>
            <a:pPr algn="ctr"/>
            <a:r>
              <a:rPr lang="en-US" sz="8000" dirty="0"/>
              <a:t>Demo</a:t>
            </a:r>
            <a:br>
              <a:rPr lang="en-US" sz="8000" dirty="0"/>
            </a:br>
            <a:br>
              <a:rPr lang="en-US" sz="8000" dirty="0"/>
            </a:br>
            <a:r>
              <a:rPr lang="en-US" sz="2400" b="1" dirty="0">
                <a:solidFill>
                  <a:srgbClr val="002060"/>
                </a:solidFill>
              </a:rPr>
              <a:t>https://</a:t>
            </a:r>
            <a:r>
              <a:rPr lang="en-US" sz="2400" b="1" dirty="0" err="1">
                <a:solidFill>
                  <a:srgbClr val="002060"/>
                </a:solidFill>
              </a:rPr>
              <a:t>github.com</a:t>
            </a:r>
            <a:r>
              <a:rPr lang="en-US" sz="2400" b="1" dirty="0">
                <a:solidFill>
                  <a:srgbClr val="002060"/>
                </a:solidFill>
              </a:rPr>
              <a:t>/</a:t>
            </a:r>
            <a:r>
              <a:rPr lang="en-US" sz="2400" b="1" dirty="0" err="1">
                <a:solidFill>
                  <a:srgbClr val="002060"/>
                </a:solidFill>
              </a:rPr>
              <a:t>zabahana</a:t>
            </a:r>
            <a:r>
              <a:rPr lang="en-US" sz="2400" b="1" dirty="0">
                <a:solidFill>
                  <a:srgbClr val="002060"/>
                </a:solidFill>
              </a:rPr>
              <a:t>/adversarial-asset-pricing-ai-</a:t>
            </a:r>
            <a:r>
              <a:rPr lang="en-US" sz="2400" b="1" dirty="0" err="1">
                <a:solidFill>
                  <a:srgbClr val="002060"/>
                </a:solidFill>
              </a:rPr>
              <a:t>etrade</a:t>
            </a:r>
            <a:r>
              <a:rPr lang="en-US" sz="2400" b="1" dirty="0">
                <a:solidFill>
                  <a:srgbClr val="002060"/>
                </a:solidFill>
              </a:rPr>
              <a:t>-</a:t>
            </a:r>
            <a:r>
              <a:rPr lang="en-US" sz="2400" b="1" dirty="0" err="1">
                <a:solidFill>
                  <a:srgbClr val="002060"/>
                </a:solidFill>
              </a:rPr>
              <a:t>ui</a:t>
            </a:r>
            <a:endParaRPr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74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Asset Pricing </a:t>
            </a:r>
            <a:r>
              <a:rPr dirty="0"/>
              <a:t>Agent</a:t>
            </a:r>
            <a:r>
              <a:rPr lang="en-US" dirty="0"/>
              <a:t> Achievements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  <a:buNone/>
              <a:defRPr sz="1400" b="1"/>
            </a:pPr>
            <a:r>
              <a:rPr sz="1600" dirty="0"/>
              <a:t>1. Observe</a:t>
            </a:r>
            <a:r>
              <a:rPr lang="en-US" sz="1600" dirty="0"/>
              <a:t>d</a:t>
            </a:r>
            <a:r>
              <a:rPr sz="1600" dirty="0"/>
              <a:t> Environment</a:t>
            </a:r>
          </a:p>
          <a:p>
            <a:pPr lvl="1">
              <a:spcAft>
                <a:spcPts val="4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</a:t>
            </a:r>
            <a:r>
              <a:rPr lang="en-US" sz="1600" dirty="0">
                <a:latin typeface="Franklin Gothic Book" panose="020B0503020102020204" pitchFamily="34" charset="0"/>
              </a:rPr>
              <a:t>c</a:t>
            </a:r>
            <a:r>
              <a:rPr sz="1600" dirty="0">
                <a:latin typeface="Franklin Gothic Book" panose="020B0503020102020204" pitchFamily="34" charset="0"/>
              </a:rPr>
              <a:t>ontinuously monitors market data, prices, indicators</a:t>
            </a:r>
          </a:p>
          <a:p>
            <a:pPr lvl="1">
              <a:spcAft>
                <a:spcPts val="8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Fetches real-time data from multiple APIs</a:t>
            </a:r>
            <a:endParaRPr lang="en-US" sz="1600" dirty="0">
              <a:latin typeface="Franklin Gothic Book" panose="020B0503020102020204" pitchFamily="34" charset="0"/>
            </a:endParaRPr>
          </a:p>
          <a:p>
            <a:pPr marL="0" indent="0">
              <a:spcAft>
                <a:spcPts val="400"/>
              </a:spcAft>
              <a:buNone/>
              <a:defRPr sz="1400" b="1"/>
            </a:pPr>
            <a:r>
              <a:rPr lang="en-US" sz="1600" dirty="0"/>
              <a:t>2. Made Autonomous Decisions</a:t>
            </a:r>
          </a:p>
          <a:p>
            <a:pPr lvl="1">
              <a:spcAft>
                <a:spcPts val="4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Analyzes 43 features across 8 groups using MHA-DQN</a:t>
            </a:r>
          </a:p>
          <a:p>
            <a:pPr lvl="1">
              <a:spcAft>
                <a:spcPts val="8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Selects optimal action: BUY/HOLD/SELL</a:t>
            </a:r>
          </a:p>
          <a:p>
            <a:pPr marL="0" indent="0">
              <a:spcAft>
                <a:spcPts val="400"/>
              </a:spcAft>
              <a:buNone/>
              <a:defRPr sz="1400" b="1"/>
            </a:pPr>
            <a:r>
              <a:rPr sz="1600" dirty="0"/>
              <a:t>3. </a:t>
            </a:r>
            <a:r>
              <a:rPr lang="en-US" sz="1600" dirty="0"/>
              <a:t>Suggested</a:t>
            </a:r>
            <a:r>
              <a:rPr sz="1600" dirty="0"/>
              <a:t> Actions</a:t>
            </a:r>
          </a:p>
          <a:p>
            <a:pPr lvl="1">
              <a:spcAft>
                <a:spcPts val="4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</a:t>
            </a:r>
            <a:r>
              <a:rPr lang="en-US" sz="1600" dirty="0">
                <a:latin typeface="Franklin Gothic Book" panose="020B0503020102020204" pitchFamily="34" charset="0"/>
              </a:rPr>
              <a:t>Suggests</a:t>
            </a:r>
            <a:r>
              <a:rPr sz="1600" dirty="0">
                <a:latin typeface="Franklin Gothic Book" panose="020B0503020102020204" pitchFamily="34" charset="0"/>
              </a:rPr>
              <a:t> trades based on Q-values</a:t>
            </a:r>
            <a:r>
              <a:rPr lang="en-US" sz="1600" dirty="0">
                <a:latin typeface="Franklin Gothic Book" panose="020B0503020102020204" pitchFamily="34" charset="0"/>
              </a:rPr>
              <a:t> and sentiment analysis signals</a:t>
            </a:r>
            <a:endParaRPr sz="1600" dirty="0">
              <a:latin typeface="Franklin Gothic Book" panose="020B0503020102020204" pitchFamily="34" charset="0"/>
            </a:endParaRPr>
          </a:p>
          <a:p>
            <a:pPr marL="0" indent="0">
              <a:spcAft>
                <a:spcPts val="400"/>
              </a:spcAft>
              <a:buNone/>
              <a:defRPr sz="1400" b="1"/>
            </a:pPr>
            <a:r>
              <a:rPr sz="1600" dirty="0"/>
              <a:t>4. Learn</a:t>
            </a:r>
            <a:r>
              <a:rPr lang="en-US" sz="1600" dirty="0"/>
              <a:t>ed</a:t>
            </a:r>
            <a:r>
              <a:rPr sz="1600" dirty="0"/>
              <a:t> from Experience</a:t>
            </a:r>
          </a:p>
          <a:p>
            <a:pPr lvl="1">
              <a:spcAft>
                <a:spcPts val="4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Updates Q-function based on rewards</a:t>
            </a:r>
          </a:p>
          <a:p>
            <a:pPr lvl="1">
              <a:spcAft>
                <a:spcPts val="8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Adapts strategy to market conditions</a:t>
            </a:r>
          </a:p>
          <a:p>
            <a:pPr marL="0" indent="0">
              <a:spcAft>
                <a:spcPts val="400"/>
              </a:spcAft>
              <a:buNone/>
              <a:defRPr sz="1400" b="1"/>
            </a:pPr>
            <a:r>
              <a:rPr sz="1600" dirty="0"/>
              <a:t>5. Collaborate</a:t>
            </a:r>
            <a:r>
              <a:rPr lang="en-US" sz="1600" dirty="0"/>
              <a:t>d</a:t>
            </a:r>
            <a:r>
              <a:rPr sz="1600" dirty="0"/>
              <a:t> with Other AI Systems</a:t>
            </a:r>
          </a:p>
          <a:p>
            <a:pPr lvl="1">
              <a:spcAft>
                <a:spcPts val="400"/>
              </a:spcAft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Uses OpenAI GPT for earnings call analysis</a:t>
            </a:r>
          </a:p>
          <a:p>
            <a:pPr lvl="1">
              <a:defRPr sz="1200"/>
            </a:pPr>
            <a:r>
              <a:rPr sz="1600" dirty="0">
                <a:latin typeface="Franklin Gothic Book" panose="020B0503020102020204" pitchFamily="34" charset="0"/>
              </a:rPr>
              <a:t>   Integrates sentiment analysis from NLP models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22A42B6-56D5-6440-86E6-7006FC53B59A}" vid="{CD8EB4FB-6531-A248-888A-0E93811EC0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716</TotalTime>
  <Words>1872</Words>
  <Application>Microsoft Macintosh PowerPoint</Application>
  <PresentationFormat>Widescreen</PresentationFormat>
  <Paragraphs>297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Franklin Gothic Book</vt:lpstr>
      <vt:lpstr>Franklin Gothic Medium</vt:lpstr>
      <vt:lpstr>Wingdings</vt:lpstr>
      <vt:lpstr>Office Theme</vt:lpstr>
      <vt:lpstr>Asset Pricing Reinforcement Learning Agent  Adversarial-Robust Multi-Head Attention Deep Q-Network (DQN) </vt:lpstr>
      <vt:lpstr>1.1 Introduction</vt:lpstr>
      <vt:lpstr>1.2 Related Solutions / State of the Art  </vt:lpstr>
      <vt:lpstr>1.3 Why Agentic AI for Asset Pricing?</vt:lpstr>
      <vt:lpstr>2.1 Data Sourcing</vt:lpstr>
      <vt:lpstr>PowerPoint Presentation</vt:lpstr>
      <vt:lpstr>PowerPoint Presentation</vt:lpstr>
      <vt:lpstr>3.1 Deep Q-Network (DQN) Formulation (1)</vt:lpstr>
      <vt:lpstr>3.1 Deep Q-Network (DQN) Formulation (2)</vt:lpstr>
      <vt:lpstr>3.2 Self-Attention Mechanism</vt:lpstr>
      <vt:lpstr>3.3 Multi-Head (Parallel Subspace Attention)</vt:lpstr>
      <vt:lpstr>3.4. 3-Layer Attention Stack</vt:lpstr>
      <vt:lpstr>3.5 Global Average Pooling (GAP)</vt:lpstr>
      <vt:lpstr>3.6 Adversarial Attacks</vt:lpstr>
      <vt:lpstr>3.7 Adversarial Training: Building Robust Models</vt:lpstr>
      <vt:lpstr>4. Performance Measurements </vt:lpstr>
      <vt:lpstr>5. Outcome/findings</vt:lpstr>
      <vt:lpstr>Demo  https://github.com/zabahana/adversarial-asset-pricing-ai-etrade-ui</vt:lpstr>
      <vt:lpstr>5. Asset Pricing Agent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Youakim BADR</dc:creator>
  <cp:lastModifiedBy>Zelalem Abahana</cp:lastModifiedBy>
  <cp:revision>35</cp:revision>
  <dcterms:created xsi:type="dcterms:W3CDTF">2018-11-27T04:22:11Z</dcterms:created>
  <dcterms:modified xsi:type="dcterms:W3CDTF">2025-12-08T08:01:43Z</dcterms:modified>
</cp:coreProperties>
</file>